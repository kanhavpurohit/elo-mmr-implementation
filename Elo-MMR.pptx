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53c1f5-5b7f-4798-ba42-94f30b24ce44}">
          <p14:sldIdLst>
            <p14:sldId id="256"/>
            <p14:sldId id="257"/>
          </p14:sldIdLst>
        </p14:section>
        <p14:section name="Proposed idea" id="{d0837682-8322-9ffe-4c0c-151902261e60}">
          <p14:sldIdLst>
            <p14:sldId id="258"/>
          </p14:sldIdLst>
        </p14:section>
        <p14:section name="Proposed architecture" id="{5567e6b8-a03e-0945-ae3c-16633d590842}">
          <p14:sldIdLst>
            <p14:sldId id="259"/>
            <p14:sldId id="260"/>
          </p14:sldIdLst>
        </p14:section>
        <p14:section name="Results" id="{9ac52ab9-da41-873b-2cfc-757ab9a410f2}">
          <p14:sldIdLst>
            <p14:sldId id="261"/>
          </p14:sldIdLst>
        </p14:section>
        <p14:section name="Conclusion" id="{9e5959ac-7699-7e05-6129-795edc55050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3213A"/>
                </a:solidFill>
                <a:latin typeface="+mn-lt"/>
              </a:defRPr>
            </a:pPr>
            <a:r>
              <a:rPr sz="1100" b="0" i="0" u="none" strike="noStrike">
                <a:solidFill>
                  <a:srgbClr val="13213A"/>
                </a:solidFill>
                <a:latin typeface="+mn-lt"/>
              </a:rPr>
              <a:t>New dataset: AtCoder, 735 rounds, 337k players (all gaps significant)</a:t>
            </a:r>
          </a:p>
        </c:rich>
      </c:tx>
      <c:layout/>
      <c:overlay val="0"/>
    </c:title>
    <c:autoTitleDeleted val="0"/>
    <c:plotArea>
      <c:layout/>
      <c:barChart>
        <c:barDir val="bar"/>
        <c:grouping val="clustered"/>
        <c:varyColors val="0"/>
        <c:ser>
          <c:idx val="0"/>
          <c:order val="0"/>
          <c:tx>
            <c:strRef>
              <c:f>Sheet1!$B$1</c:f>
              <c:strCache>
                <c:ptCount val="1"/>
                <c:pt idx="0">
                  <c:v>Pair accuracy (%)</c:v>
                </c:pt>
              </c:strCache>
            </c:strRef>
          </c:tx>
          <c:spPr>
            <a:solidFill>
              <a:srgbClr val="9AA5B1"/>
            </a:solidFill>
            <a:effectLst/>
          </c:spPr>
          <c:invertIfNegative val="0"/>
          <c:dLbls>
            <c:numFmt formatCode="0.00" sourceLinked="0"/>
            <c:txPr>
              <a:bodyPr/>
              <a:lstStyle/>
              <a:p>
                <a:pPr>
                  <a:defRPr b="0" i="0" strike="noStrike" sz="1000" u="none">
                    <a:solidFill>
                      <a:srgbClr val="13213A"/>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9AA5B1"/>
              </a:solidFill>
              <a:effectLst/>
            </c:spPr>
          </c:dPt>
          <c:dPt>
            <c:idx val="2"/>
            <c:invertIfNegative val="0"/>
            <c:bubble3D val="0"/>
            <c:spPr>
              <a:solidFill>
                <a:srgbClr val="9AA5B1"/>
              </a:solidFill>
              <a:effectLst/>
            </c:spPr>
          </c:dPt>
          <c:dPt>
            <c:idx val="3"/>
            <c:invertIfNegative val="0"/>
            <c:bubble3D val="0"/>
            <c:spPr>
              <a:solidFill>
                <a:srgbClr val="9AA5B1"/>
              </a:solidFill>
              <a:effectLst/>
            </c:spPr>
          </c:dPt>
          <c:dPt>
            <c:idx val="4"/>
            <c:invertIfNegative val="0"/>
            <c:bubble3D val="0"/>
            <c:spPr>
              <a:solidFill>
                <a:srgbClr val="13213A"/>
              </a:solidFill>
              <a:effectLst/>
            </c:spPr>
          </c:dPt>
          <c:dPt>
            <c:idx val="5"/>
            <c:invertIfNegative val="0"/>
            <c:bubble3D val="0"/>
            <c:spPr>
              <a:solidFill>
                <a:srgbClr val="13213A"/>
              </a:solidFill>
              <a:effectLst/>
            </c:spPr>
          </c:dPt>
          <c:dPt>
            <c:idx val="6"/>
            <c:invertIfNegative val="0"/>
            <c:bubble3D val="0"/>
            <c:spPr>
              <a:solidFill>
                <a:srgbClr val="147A55"/>
              </a:solidFill>
              <a:effectLst/>
            </c:spPr>
          </c:dPt>
          <c:cat>
            <c:multiLvlStrRef>
              <c:f>Sheet1!$A$2:$A$8</c:f>
              <c:multiLvlStrCache>
                <c:ptCount val="7"/>
                <c:lvl>
                  <c:pt idx="0">
                    <c:v>Glicko</c:v>
                  </c:pt>
                  <c:pt idx="1">
                    <c:v>AtCoder official</c:v>
                  </c:pt>
                  <c:pt idx="2">
                    <c:v>TopCoder</c:v>
                  </c:pt>
                  <c:pt idx="3">
                    <c:v>Codeforces</c:v>
                  </c:pt>
                  <c:pt idx="4">
                    <c:v>Elo-MMχ</c:v>
                  </c:pt>
                  <c:pt idx="5">
                    <c:v>Elo-MMR(ρ)</c:v>
                  </c:pt>
                  <c:pt idx="6">
                    <c:v>Elo-MMR + drift (ours)</c:v>
                  </c:pt>
                </c:lvl>
              </c:multiLvlStrCache>
            </c:multiLvlStrRef>
          </c:cat>
          <c:val>
            <c:numRef>
              <c:f>Sheet1!$B$2:$B$8</c:f>
              <c:numCache>
                <c:formatCode>General</c:formatCode>
                <c:ptCount val="7"/>
                <c:pt idx="0">
                  <c:v>81.96</c:v>
                </c:pt>
                <c:pt idx="1">
                  <c:v>82.01</c:v>
                </c:pt>
                <c:pt idx="2">
                  <c:v>82.61</c:v>
                </c:pt>
                <c:pt idx="3">
                  <c:v>82.65</c:v>
                </c:pt>
                <c:pt idx="4">
                  <c:v>82.78</c:v>
                </c:pt>
                <c:pt idx="5">
                  <c:v>82.8</c:v>
                </c:pt>
                <c:pt idx="6">
                  <c:v>82.87</c:v>
                </c:pt>
              </c:numCache>
            </c:numRef>
          </c:val>
        </c:ser>
        <c:dLbls>
          <c:numFmt formatCode="0.00" sourceLinked="0"/>
          <c:txPr>
            <a:bodyPr/>
            <a:lstStyle/>
            <a:p>
              <a:pPr>
                <a:defRPr b="0" i="0" strike="noStrike" sz="1000" u="none">
                  <a:solidFill>
                    <a:srgbClr val="1321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83"/>
          <c:min val="81.5"/>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paper and what we did: reimplemented it, checked whether its results reproduce, explained the gaps, and extended it with a new dataset and a time-aware drift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infer skill from rankings when thousands compete per round. Existing systems each miss at least one of three properties; the paper claims Elo-MMR is the first to prove all three. Our job was to check that claim and build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hidden and drift between rounds. In each round a player performs at their skill plus random noise, and we only see the resulting ranking. The joint distribution factorises into four pieces. The paper's key move: in a massive contest the ranking reveals each performance almost exactly, so we can treat performances as observed. Then every player is updated independently by solving two one-dimensional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for player i, each opponent contributes a term depending on whether i lost to them, tied, or beat them. With logistic noise these are simple expressions in the opponent's win probability F_j. Solving Q = 0 gives the performance. Phase 2: the new rating solves L' = 0, a Gaussian prior plus one tanh term per past round. This is a robust average: the tanh saturates for rounds far from the current rating, so a single bad round has bounded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rounds the paper's pseudodiffusion lets old performances fade, at a rate set by rho, and transfers their weight to a Gaussian centred on the current rating. Our extension makes the drift depend on time away, not just rounds played. Because it only depends on time, the incentive proof still goes through. Bottom: the robustness bound, and how we implemented and evaluated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our new dataset. Elo-MMR beats every baseline and AtCoder's own published ratings, and our time drift adds a bit more. Right: the paper's headline numbers reproduce on its own data once the setup matches: the authors' settings, full participation on synthetic data, and the exact Codeforces formula for speed. The drift gain is small but statistically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Conclusions: it reproduces, we know why our first numbers differed, and it holds on new data. Limitations: be upfront that results depend on tuning, our gains are small, subsampling weakens the incentive guarantee, and we could not compare on the unpublished datasets. Then switch to the code: elommr/kernels.py for the two phases, scripts/run_experiments.py for the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6002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ph idx="101" type="body" hasCustomPrompt="1"/>
          </p:nvPr>
        </p:nvSpPr>
        <p:spPr>
          <a:xfrm>
            <a:off x="548640" y="2834640"/>
            <a:ext cx="8046720" cy="1097280"/>
          </a:xfrm>
          <a:prstGeom prst="rect">
            <a:avLst/>
          </a:prstGeom>
          <a:noFill/>
          <a:ln/>
        </p:spPr>
        <p:txBody>
          <a:bodyPr wrap="square" rtlCol="0"/>
          <a:lstStyle>
            <a:lvl1pPr indent="0" marL="0">
              <a:buNone/>
              <a:defRPr lang="en-US" sz="1800" dirty="0">
                <a:solidFill>
                  <a:srgbClr val="CFD6E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lvl1pPr indent="0" marL="0">
              <a:buNone/>
              <a:defRPr lang="en-US" sz="1100" b="1" spc="2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457200" y="548640"/>
            <a:ext cx="8229600" cy="548640"/>
          </a:xfrm>
          <a:prstGeom prst="rect">
            <a:avLst/>
          </a:prstGeom>
          <a:noFill/>
          <a:ln/>
        </p:spPr>
        <p:txBody>
          <a:bodyPr wrap="square" rtlCol="0"/>
          <a:lstStyle>
            <a:lvl1pPr algn="l" indent="0" marL="0">
              <a:buNone/>
              <a:defRPr lang="en-US" sz="2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600200"/>
          </a:xfrm>
          <a:prstGeom prst="rect">
            <a:avLst/>
          </a:prstGeom>
          <a:noFill/>
          <a:ln/>
        </p:spPr>
        <p:txBody>
          <a:bodyPr wrap="square" rtlCol="0" anchor="b"/>
          <a:lstStyle/>
          <a:p>
            <a:pPr algn="l" indent="0" marL="0">
              <a:buNone/>
            </a:pPr>
            <a:r>
              <a:rPr lang="en-US" sz="3200" b="1" dirty="0">
                <a:solidFill>
                  <a:schemeClr val="bg1"/>
                </a:solidFill>
                <a:latin typeface="Cambria" pitchFamily="34" charset="0"/>
                <a:ea typeface="Cambria" pitchFamily="34" charset="-122"/>
                <a:cs typeface="Cambria" pitchFamily="34" charset="-120"/>
              </a:rPr>
              <a:t>Elo-MMR: replicating and extending a rating system for massive competitions</a:t>
            </a:r>
            <a:endParaRPr lang="en-US" sz="3200" dirty="0"/>
          </a:p>
        </p:txBody>
      </p:sp>
      <p:sp>
        <p:nvSpPr>
          <p:cNvPr id="3" name="Text 0"/>
          <p:cNvSpPr/>
          <p:nvPr>
            <p:ph idx="101" type="body" hasCustomPrompt="1"/>
          </p:nvPr>
        </p:nvSpPr>
        <p:spPr>
          <a:xfrm>
            <a:off x="548640" y="2834640"/>
            <a:ext cx="8046720" cy="1097280"/>
          </a:xfrm>
          <a:prstGeom prst="rect">
            <a:avLst/>
          </a:prstGeom>
          <a:noFill/>
          <a:ln/>
        </p:spPr>
        <p:txBody>
          <a:bodyPr wrap="square" rtlCol="0" anchor="t"/>
          <a:lstStyle/>
          <a:p>
            <a:pPr indent="0" marL="0">
              <a:buNone/>
            </a:pPr>
            <a:r>
              <a:rPr lang="en-US" sz="1800" b="1" dirty="0">
                <a:solidFill>
                  <a:srgbClr val="FFFFFF"/>
                </a:solidFill>
              </a:rPr>
              <a:t>Kanhav Purohit (240150014)  ·  Arnav Sinha (240150005)</a:t>
            </a:r>
            <a:endParaRPr lang="en-US" sz="1800" dirty="0"/>
          </a:p>
          <a:p>
            <a:pPr indent="0" marL="0">
              <a:buNone/>
            </a:pPr>
            <a:r>
              <a:rPr lang="en-US" sz="1800" dirty="0">
                <a:solidFill>
                  <a:srgbClr val="CFD6E2"/>
                </a:solidFill>
              </a:rPr>
              <a:t>Replication of Ebtekar &amp; Liu, The Web Conference 2021 (arXiv:2101.00400), tested on Codeforces, synthetic data and a new AtCoder dataset</a:t>
            </a:r>
            <a:endParaRPr lang="en-US" sz="1800" dirty="0"/>
          </a:p>
        </p:txBody>
      </p:sp>
      <p:sp>
        <p:nvSpPr>
          <p:cNvPr id="4" name="Text 2"/>
          <p:cNvSpPr txBox="1"/>
          <p:nvPr/>
        </p:nvSpPr>
        <p:spPr>
          <a:xfrm>
            <a:off x="548640" y="4343400"/>
            <a:ext cx="8046720" cy="320040"/>
          </a:xfrm>
          <a:prstGeom prst="rect">
            <a:avLst/>
          </a:prstGeom>
          <a:noFill/>
          <a:ln/>
        </p:spPr>
        <p:txBody>
          <a:bodyPr wrap="square" lIns="0" tIns="0" rIns="0" bIns="0" rtlCol="0" anchor="t"/>
          <a:lstStyle/>
          <a:p>
            <a:pPr indent="0" marL="0">
              <a:buNone/>
            </a:pPr>
            <a:r>
              <a:rPr lang="en-US" sz="1200" dirty="0">
                <a:solidFill>
                  <a:srgbClr val="F0A07A"/>
                </a:solidFill>
              </a:rPr>
              <a:t>Introduction  →  Proposed idea  →  Architecture  →  Results  →  Conclusion  ·  then code demo and Q&amp;A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p>
            <a:pPr indent="0" marL="0">
              <a:buNone/>
            </a:pPr>
            <a:r>
              <a:rPr lang="en-US" sz="1100" b="1" spc="200" kern="0" dirty="0">
                <a:solidFill>
                  <a:schemeClr val="accent2"/>
                </a:solidFill>
              </a:rPr>
              <a:t>INTRODUCTION</a:t>
            </a:r>
            <a:endParaRPr lang="en-US" sz="1100" dirty="0"/>
          </a:p>
        </p:txBody>
      </p:sp>
      <p:sp>
        <p:nvSpPr>
          <p:cNvPr id="3" name="Text 0"/>
          <p:cNvSpPr/>
          <p:nvPr>
            <p:ph idx="101" type="title" hasCustomPrompt="1"/>
          </p:nvPr>
        </p:nvSpPr>
        <p:spPr>
          <a:xfrm>
            <a:off x="457200" y="548640"/>
            <a:ext cx="8229600" cy="548640"/>
          </a:xfrm>
          <a:prstGeom prst="rect">
            <a:avLst/>
          </a:prstGeom>
          <a:noFill/>
          <a:ln/>
        </p:spPr>
        <p:txBody>
          <a:bodyPr wrap="square"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Rating thousands of players from rankings alone is hard</a:t>
            </a:r>
            <a:endParaRPr lang="en-US" sz="2400" dirty="0"/>
          </a:p>
        </p:txBody>
      </p:sp>
      <p:sp>
        <p:nvSpPr>
          <p:cNvPr id="4" name="Text 2"/>
          <p:cNvSpPr txBox="1"/>
          <p:nvPr/>
        </p:nvSpPr>
        <p:spPr>
          <a:xfrm>
            <a:off x="457200" y="1325880"/>
            <a:ext cx="3840480" cy="32004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2"/>
                </a:solidFill>
              </a:rPr>
              <a:t>Programming contests, races and judged sports only produce a ranking per event; raw scores can't be compared across events</a:t>
            </a:r>
            <a:endParaRPr lang="en-US" sz="1400" dirty="0"/>
          </a:p>
          <a:p>
            <a:pPr marL="177800" indent="-177800">
              <a:spcAft>
                <a:spcPts val="900"/>
              </a:spcAft>
              <a:buSzPct val="100000"/>
              <a:buChar char="•"/>
            </a:pPr>
            <a:r>
              <a:rPr lang="en-US" sz="1400" dirty="0">
                <a:solidFill>
                  <a:schemeClr val="tx2"/>
                </a:solidFill>
              </a:rPr>
              <a:t>Elo and Glicko are built for 1-vs-1 games; TrueSkill handles many players but has no proven guarantees</a:t>
            </a:r>
            <a:endParaRPr lang="en-US" sz="1400" dirty="0"/>
          </a:p>
          <a:p>
            <a:pPr marL="177800" indent="-177800">
              <a:spcAft>
                <a:spcPts val="900"/>
              </a:spcAft>
              <a:buSzPct val="100000"/>
              <a:buChar char="•"/>
            </a:pPr>
            <a:r>
              <a:rPr lang="en-US" sz="1400" dirty="0">
                <a:solidFill>
                  <a:schemeClr val="tx2"/>
                </a:solidFill>
              </a:rPr>
              <a:t>Codeforces and TopCoder use ad-hoc formulas, and some can be gamed by losing on purpose</a:t>
            </a:r>
            <a:endParaRPr lang="en-US" sz="1400" dirty="0"/>
          </a:p>
          <a:p>
            <a:pPr marL="177800" indent="-177800">
              <a:spcAft>
                <a:spcPts val="900"/>
              </a:spcAft>
              <a:buSzPct val="100000"/>
              <a:buChar char="•"/>
            </a:pPr>
            <a:r>
              <a:rPr lang="en-US" sz="1400" dirty="0">
                <a:solidFill>
                  <a:schemeClr val="tx2"/>
                </a:solidFill>
              </a:rPr>
              <a:t>Our task: reimplement Elo-MMR, test whether its results reproduce, explain any gaps, and extend it</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26280" y="1371600"/>
          <a:ext cx="4160520" cy="914400"/>
        </p:xfrm>
        <a:graphic>
          <a:graphicData uri="http://schemas.openxmlformats.org/drawingml/2006/table">
            <a:tbl>
              <a:tblPr/>
              <a:tblGrid>
                <a:gridCol w="1463040"/>
                <a:gridCol w="868680"/>
                <a:gridCol w="960120"/>
                <a:gridCol w="86868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System</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321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Massive</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321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Monotonic</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321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Robust</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3213A"/>
                    </a:solidFill>
                  </a:tcPr>
                </a:tc>
              </a:tr>
              <a:tr h="384048">
                <a:tc>
                  <a:txBody>
                    <a:bodyPr/>
                    <a:lstStyle/>
                    <a:p>
                      <a:pPr indent="0" marL="0">
                        <a:buNone/>
                      </a:pPr>
                      <a:r>
                        <a:rPr lang="en-US" sz="1200" dirty="0">
                          <a:solidFill>
                            <a:srgbClr val="13213A"/>
                          </a:solidFill>
                          <a:latin typeface="Calibri" pitchFamily="34" charset="0"/>
                          <a:ea typeface="Calibri" pitchFamily="34" charset="-122"/>
                          <a:cs typeface="Calibri" pitchFamily="34" charset="-120"/>
                        </a:rPr>
                        <a:t>Glicko-2 / TopCoder</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dirty="0">
                          <a:solidFill>
                            <a:srgbClr val="4A556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dirty="0">
                          <a:solidFill>
                            <a:srgbClr val="D962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b="1" dirty="0">
                          <a:solidFill>
                            <a:srgbClr val="147A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dirty="0">
                          <a:solidFill>
                            <a:srgbClr val="13213A"/>
                          </a:solidFill>
                          <a:latin typeface="Calibri" pitchFamily="34" charset="0"/>
                          <a:ea typeface="Calibri" pitchFamily="34" charset="-122"/>
                          <a:cs typeface="Calibri" pitchFamily="34" charset="-120"/>
                        </a:rPr>
                        <a:t>Codeforces</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dirty="0">
                          <a:solidFill>
                            <a:srgbClr val="D962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b="1" dirty="0">
                          <a:solidFill>
                            <a:srgbClr val="147A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dirty="0">
                          <a:solidFill>
                            <a:srgbClr val="D962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dirty="0">
                          <a:solidFill>
                            <a:srgbClr val="13213A"/>
                          </a:solidFill>
                          <a:latin typeface="Calibri" pitchFamily="34" charset="0"/>
                          <a:ea typeface="Calibri" pitchFamily="34" charset="-122"/>
                          <a:cs typeface="Calibri" pitchFamily="34" charset="-120"/>
                        </a:rPr>
                        <a:t>TrueSkill</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dirty="0">
                          <a:solidFill>
                            <a:srgbClr val="4A5568"/>
                          </a:solidFill>
                          <a:latin typeface="Calibri" pitchFamily="34" charset="0"/>
                          <a:ea typeface="Calibri" pitchFamily="34" charset="-122"/>
                          <a:cs typeface="Calibri" pitchFamily="34" charset="-120"/>
                        </a:rPr>
                        <a:t>unproven</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dirty="0">
                          <a:solidFill>
                            <a:srgbClr val="4A5568"/>
                          </a:solidFill>
                          <a:latin typeface="Calibri" pitchFamily="34" charset="0"/>
                          <a:ea typeface="Calibri" pitchFamily="34" charset="-122"/>
                          <a:cs typeface="Calibri" pitchFamily="34" charset="-120"/>
                        </a:rPr>
                        <a:t>unproven</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dirty="0">
                          <a:solidFill>
                            <a:srgbClr val="D962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b="1" dirty="0">
                          <a:solidFill>
                            <a:srgbClr val="13213A"/>
                          </a:solidFill>
                          <a:latin typeface="Calibri" pitchFamily="34" charset="0"/>
                          <a:ea typeface="Calibri" pitchFamily="34" charset="-122"/>
                          <a:cs typeface="Calibri" pitchFamily="34" charset="-120"/>
                        </a:rPr>
                        <a:t>Elo-MMR</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b="1" dirty="0">
                          <a:solidFill>
                            <a:srgbClr val="147A55"/>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b="1" dirty="0">
                          <a:solidFill>
                            <a:srgbClr val="147A55"/>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200" b="1" dirty="0">
                          <a:solidFill>
                            <a:srgbClr val="147A55"/>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
        <p:nvSpPr>
          <p:cNvPr id="6" name="Text 3"/>
          <p:cNvSpPr txBox="1"/>
          <p:nvPr/>
        </p:nvSpPr>
        <p:spPr>
          <a:xfrm>
            <a:off x="4526280" y="3429000"/>
            <a:ext cx="4160520" cy="457200"/>
          </a:xfrm>
          <a:prstGeom prst="rect">
            <a:avLst/>
          </a:prstGeom>
          <a:noFill/>
          <a:ln/>
        </p:spPr>
        <p:txBody>
          <a:bodyPr wrap="square" lIns="0" tIns="0" rIns="0" bIns="0" rtlCol="0" anchor="t"/>
          <a:lstStyle/>
          <a:p>
            <a:pPr indent="0" marL="0">
              <a:buNone/>
            </a:pPr>
            <a:r>
              <a:rPr lang="en-US" sz="1100" dirty="0">
                <a:solidFill>
                  <a:srgbClr val="6B7280"/>
                </a:solidFill>
              </a:rPr>
              <a:t>Massive = linear time · Monotonic = it never pays to lose · Robust = one round can't wreck a rating</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p>
            <a:pPr indent="0" marL="0">
              <a:buNone/>
            </a:pPr>
            <a:r>
              <a:rPr lang="en-US" sz="1100" b="1" spc="200" kern="0" dirty="0">
                <a:solidFill>
                  <a:schemeClr val="accent2"/>
                </a:solidFill>
              </a:rPr>
              <a:t>PROPOSED IDEA</a:t>
            </a:r>
            <a:endParaRPr lang="en-US" sz="1100" dirty="0"/>
          </a:p>
        </p:txBody>
      </p:sp>
      <p:sp>
        <p:nvSpPr>
          <p:cNvPr id="3" name="Text 0"/>
          <p:cNvSpPr/>
          <p:nvPr>
            <p:ph idx="101" type="title" hasCustomPrompt="1"/>
          </p:nvPr>
        </p:nvSpPr>
        <p:spPr>
          <a:xfrm>
            <a:off x="457200" y="548640"/>
            <a:ext cx="8229600" cy="548640"/>
          </a:xfrm>
          <a:prstGeom prst="rect">
            <a:avLst/>
          </a:prstGeom>
          <a:noFill/>
          <a:ln/>
        </p:spPr>
        <p:txBody>
          <a:bodyPr wrap="square"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 Bayesian model where only the ranking is observed</a:t>
            </a:r>
            <a:endParaRPr lang="en-US" sz="2400" dirty="0"/>
          </a:p>
        </p:txBody>
      </p:sp>
      <p:sp>
        <p:nvSpPr>
          <p:cNvPr id="4" name="Shape 2"/>
          <p:cNvSpPr/>
          <p:nvPr/>
        </p:nvSpPr>
        <p:spPr>
          <a:xfrm>
            <a:off x="457200" y="1280160"/>
            <a:ext cx="1691640" cy="566928"/>
          </a:xfrm>
          <a:prstGeom prst="roundRect">
            <a:avLst>
              <a:gd name="adj" fmla="val 12903"/>
            </a:avLst>
          </a:prstGeom>
          <a:solidFill>
            <a:srgbClr val="9AA5B1"/>
          </a:solidFill>
          <a:ln w="12700">
            <a:solidFill>
              <a:srgbClr val="9AA5B1"/>
            </a:solidFill>
            <a:prstDash val="solid"/>
          </a:ln>
        </p:spPr>
      </p:sp>
      <p:sp>
        <p:nvSpPr>
          <p:cNvPr id="5" name="Text 3"/>
          <p:cNvSpPr txBox="1"/>
          <p:nvPr/>
        </p:nvSpPr>
        <p:spPr>
          <a:xfrm>
            <a:off x="457200" y="1280160"/>
            <a:ext cx="1691640" cy="566928"/>
          </a:xfrm>
          <a:prstGeom prst="rect">
            <a:avLst/>
          </a:prstGeom>
          <a:noFill/>
          <a:ln/>
        </p:spPr>
        <p:txBody>
          <a:bodyPr wrap="square" lIns="0" tIns="0" rIns="0" bIns="0" rtlCol="0" anchor="ctr"/>
          <a:lstStyle/>
          <a:p>
            <a:pPr algn="ctr" indent="0" marL="0">
              <a:buNone/>
            </a:pPr>
            <a:r>
              <a:rPr lang="en-US" sz="1300" b="1" dirty="0">
                <a:solidFill>
                  <a:srgbClr val="FFFFFF"/>
                </a:solidFill>
              </a:rPr>
              <a:t>Skill  S(t−1)</a:t>
            </a:r>
            <a:endParaRPr lang="en-US" sz="1300" dirty="0"/>
          </a:p>
          <a:p>
            <a:pPr algn="ctr" indent="0" marL="0">
              <a:buNone/>
            </a:pPr>
            <a:r>
              <a:rPr lang="en-US" sz="1000" dirty="0">
                <a:solidFill>
                  <a:srgbClr val="FFFFFF"/>
                </a:solidFill>
              </a:rPr>
              <a:t>hidden</a:t>
            </a:r>
            <a:endParaRPr lang="en-US" sz="1300" dirty="0"/>
          </a:p>
        </p:txBody>
      </p:sp>
      <p:sp>
        <p:nvSpPr>
          <p:cNvPr id="6" name="Shape 4"/>
          <p:cNvSpPr/>
          <p:nvPr/>
        </p:nvSpPr>
        <p:spPr>
          <a:xfrm>
            <a:off x="2267712" y="1444752"/>
            <a:ext cx="201168" cy="237744"/>
          </a:xfrm>
          <a:prstGeom prst="chevron">
            <a:avLst/>
          </a:prstGeom>
          <a:solidFill>
            <a:srgbClr val="9AA5B1"/>
          </a:solidFill>
          <a:ln w="12700">
            <a:solidFill>
              <a:srgbClr val="9AA5B1"/>
            </a:solidFill>
            <a:prstDash val="solid"/>
          </a:ln>
        </p:spPr>
      </p:sp>
      <p:sp>
        <p:nvSpPr>
          <p:cNvPr id="7" name="Text 5"/>
          <p:cNvSpPr txBox="1"/>
          <p:nvPr/>
        </p:nvSpPr>
        <p:spPr>
          <a:xfrm>
            <a:off x="2121408" y="1901952"/>
            <a:ext cx="502920" cy="228600"/>
          </a:xfrm>
          <a:prstGeom prst="rect">
            <a:avLst/>
          </a:prstGeom>
          <a:noFill/>
          <a:ln/>
        </p:spPr>
        <p:txBody>
          <a:bodyPr wrap="square" lIns="0" tIns="0" rIns="0" bIns="0" rtlCol="0" anchor="t"/>
          <a:lstStyle/>
          <a:p>
            <a:pPr algn="ctr" indent="0" marL="0">
              <a:buNone/>
            </a:pPr>
            <a:r>
              <a:rPr lang="en-US" sz="1000" dirty="0">
                <a:solidFill>
                  <a:srgbClr val="6B7280"/>
                </a:solidFill>
              </a:rPr>
              <a:t>drift</a:t>
            </a:r>
            <a:endParaRPr lang="en-US" sz="1000" dirty="0"/>
          </a:p>
        </p:txBody>
      </p:sp>
      <p:sp>
        <p:nvSpPr>
          <p:cNvPr id="8" name="Shape 6"/>
          <p:cNvSpPr/>
          <p:nvPr/>
        </p:nvSpPr>
        <p:spPr>
          <a:xfrm>
            <a:off x="2606040" y="1280160"/>
            <a:ext cx="1691640" cy="566928"/>
          </a:xfrm>
          <a:prstGeom prst="roundRect">
            <a:avLst>
              <a:gd name="adj" fmla="val 12903"/>
            </a:avLst>
          </a:prstGeom>
          <a:solidFill>
            <a:srgbClr val="13213A"/>
          </a:solidFill>
          <a:ln w="12700">
            <a:solidFill>
              <a:srgbClr val="13213A"/>
            </a:solidFill>
            <a:prstDash val="solid"/>
          </a:ln>
        </p:spPr>
      </p:sp>
      <p:sp>
        <p:nvSpPr>
          <p:cNvPr id="9" name="Text 7"/>
          <p:cNvSpPr txBox="1"/>
          <p:nvPr/>
        </p:nvSpPr>
        <p:spPr>
          <a:xfrm>
            <a:off x="2606040" y="1280160"/>
            <a:ext cx="1691640" cy="566928"/>
          </a:xfrm>
          <a:prstGeom prst="rect">
            <a:avLst/>
          </a:prstGeom>
          <a:noFill/>
          <a:ln/>
        </p:spPr>
        <p:txBody>
          <a:bodyPr wrap="square" lIns="0" tIns="0" rIns="0" bIns="0" rtlCol="0" anchor="ctr"/>
          <a:lstStyle/>
          <a:p>
            <a:pPr algn="ctr" indent="0" marL="0">
              <a:buNone/>
            </a:pPr>
            <a:r>
              <a:rPr lang="en-US" sz="1300" b="1" dirty="0">
                <a:solidFill>
                  <a:srgbClr val="FFFFFF"/>
                </a:solidFill>
              </a:rPr>
              <a:t>Skill  S(t)</a:t>
            </a:r>
            <a:endParaRPr lang="en-US" sz="1300" dirty="0"/>
          </a:p>
          <a:p>
            <a:pPr algn="ctr" indent="0" marL="0">
              <a:buNone/>
            </a:pPr>
            <a:r>
              <a:rPr lang="en-US" sz="1000" dirty="0">
                <a:solidFill>
                  <a:srgbClr val="FFFFFF"/>
                </a:solidFill>
              </a:rPr>
              <a:t>hidden</a:t>
            </a:r>
            <a:endParaRPr lang="en-US" sz="1300" dirty="0"/>
          </a:p>
        </p:txBody>
      </p:sp>
      <p:sp>
        <p:nvSpPr>
          <p:cNvPr id="10" name="Shape 8"/>
          <p:cNvSpPr/>
          <p:nvPr/>
        </p:nvSpPr>
        <p:spPr>
          <a:xfrm>
            <a:off x="4416552" y="1444752"/>
            <a:ext cx="201168" cy="237744"/>
          </a:xfrm>
          <a:prstGeom prst="chevron">
            <a:avLst/>
          </a:prstGeom>
          <a:solidFill>
            <a:srgbClr val="9AA5B1"/>
          </a:solidFill>
          <a:ln w="12700">
            <a:solidFill>
              <a:srgbClr val="9AA5B1"/>
            </a:solidFill>
            <a:prstDash val="solid"/>
          </a:ln>
        </p:spPr>
      </p:sp>
      <p:sp>
        <p:nvSpPr>
          <p:cNvPr id="11" name="Text 9"/>
          <p:cNvSpPr txBox="1"/>
          <p:nvPr/>
        </p:nvSpPr>
        <p:spPr>
          <a:xfrm>
            <a:off x="4270248" y="1901952"/>
            <a:ext cx="502920" cy="228600"/>
          </a:xfrm>
          <a:prstGeom prst="rect">
            <a:avLst/>
          </a:prstGeom>
          <a:noFill/>
          <a:ln/>
        </p:spPr>
        <p:txBody>
          <a:bodyPr wrap="square" lIns="0" tIns="0" rIns="0" bIns="0" rtlCol="0" anchor="t"/>
          <a:lstStyle/>
          <a:p>
            <a:pPr algn="ctr" indent="0" marL="0">
              <a:buNone/>
            </a:pPr>
            <a:r>
              <a:rPr lang="en-US" sz="1000" dirty="0">
                <a:solidFill>
                  <a:srgbClr val="6B7280"/>
                </a:solidFill>
              </a:rPr>
              <a:t>+ noise</a:t>
            </a:r>
            <a:endParaRPr lang="en-US" sz="1000" dirty="0"/>
          </a:p>
        </p:txBody>
      </p:sp>
      <p:sp>
        <p:nvSpPr>
          <p:cNvPr id="12" name="Shape 10"/>
          <p:cNvSpPr/>
          <p:nvPr/>
        </p:nvSpPr>
        <p:spPr>
          <a:xfrm>
            <a:off x="4754880" y="1280160"/>
            <a:ext cx="1691640" cy="566928"/>
          </a:xfrm>
          <a:prstGeom prst="roundRect">
            <a:avLst>
              <a:gd name="adj" fmla="val 12903"/>
            </a:avLst>
          </a:prstGeom>
          <a:solidFill>
            <a:srgbClr val="D9622B"/>
          </a:solidFill>
          <a:ln w="12700">
            <a:solidFill>
              <a:srgbClr val="D9622B"/>
            </a:solidFill>
            <a:prstDash val="solid"/>
          </a:ln>
        </p:spPr>
      </p:sp>
      <p:sp>
        <p:nvSpPr>
          <p:cNvPr id="13" name="Text 11"/>
          <p:cNvSpPr txBox="1"/>
          <p:nvPr/>
        </p:nvSpPr>
        <p:spPr>
          <a:xfrm>
            <a:off x="4754880" y="1280160"/>
            <a:ext cx="1691640" cy="566928"/>
          </a:xfrm>
          <a:prstGeom prst="rect">
            <a:avLst/>
          </a:prstGeom>
          <a:noFill/>
          <a:ln/>
        </p:spPr>
        <p:txBody>
          <a:bodyPr wrap="square" lIns="0" tIns="0" rIns="0" bIns="0" rtlCol="0" anchor="ctr"/>
          <a:lstStyle/>
          <a:p>
            <a:pPr algn="ctr" indent="0" marL="0">
              <a:buNone/>
            </a:pPr>
            <a:r>
              <a:rPr lang="en-US" sz="1300" b="1" dirty="0">
                <a:solidFill>
                  <a:srgbClr val="FFFFFF"/>
                </a:solidFill>
              </a:rPr>
              <a:t>Performance  P(t)</a:t>
            </a:r>
            <a:endParaRPr lang="en-US" sz="1300" dirty="0"/>
          </a:p>
          <a:p>
            <a:pPr algn="ctr" indent="0" marL="0">
              <a:buNone/>
            </a:pPr>
            <a:r>
              <a:rPr lang="en-US" sz="1000" dirty="0">
                <a:solidFill>
                  <a:srgbClr val="FFFFFF"/>
                </a:solidFill>
              </a:rPr>
              <a:t>hidden</a:t>
            </a:r>
            <a:endParaRPr lang="en-US" sz="1300" dirty="0"/>
          </a:p>
        </p:txBody>
      </p:sp>
      <p:sp>
        <p:nvSpPr>
          <p:cNvPr id="14" name="Shape 12"/>
          <p:cNvSpPr/>
          <p:nvPr/>
        </p:nvSpPr>
        <p:spPr>
          <a:xfrm>
            <a:off x="6565392" y="1444752"/>
            <a:ext cx="201168" cy="237744"/>
          </a:xfrm>
          <a:prstGeom prst="chevron">
            <a:avLst/>
          </a:prstGeom>
          <a:solidFill>
            <a:srgbClr val="9AA5B1"/>
          </a:solidFill>
          <a:ln w="12700">
            <a:solidFill>
              <a:srgbClr val="9AA5B1"/>
            </a:solidFill>
            <a:prstDash val="solid"/>
          </a:ln>
        </p:spPr>
      </p:sp>
      <p:sp>
        <p:nvSpPr>
          <p:cNvPr id="15" name="Text 13"/>
          <p:cNvSpPr txBox="1"/>
          <p:nvPr/>
        </p:nvSpPr>
        <p:spPr>
          <a:xfrm>
            <a:off x="6419088" y="1901952"/>
            <a:ext cx="502920" cy="228600"/>
          </a:xfrm>
          <a:prstGeom prst="rect">
            <a:avLst/>
          </a:prstGeom>
          <a:noFill/>
          <a:ln/>
        </p:spPr>
        <p:txBody>
          <a:bodyPr wrap="square" lIns="0" tIns="0" rIns="0" bIns="0" rtlCol="0" anchor="t"/>
          <a:lstStyle/>
          <a:p>
            <a:pPr algn="ctr" indent="0" marL="0">
              <a:buNone/>
            </a:pPr>
            <a:r>
              <a:rPr lang="en-US" sz="1000" dirty="0">
                <a:solidFill>
                  <a:srgbClr val="6B7280"/>
                </a:solidFill>
              </a:rPr>
              <a:t>sorted</a:t>
            </a:r>
            <a:endParaRPr lang="en-US" sz="1000" dirty="0"/>
          </a:p>
        </p:txBody>
      </p:sp>
      <p:sp>
        <p:nvSpPr>
          <p:cNvPr id="16" name="Shape 14"/>
          <p:cNvSpPr/>
          <p:nvPr/>
        </p:nvSpPr>
        <p:spPr>
          <a:xfrm>
            <a:off x="6903720" y="1280160"/>
            <a:ext cx="1691640" cy="566928"/>
          </a:xfrm>
          <a:prstGeom prst="roundRect">
            <a:avLst>
              <a:gd name="adj" fmla="val 12903"/>
            </a:avLst>
          </a:prstGeom>
          <a:solidFill>
            <a:srgbClr val="147A55"/>
          </a:solidFill>
          <a:ln w="12700">
            <a:solidFill>
              <a:srgbClr val="147A55"/>
            </a:solidFill>
            <a:prstDash val="solid"/>
          </a:ln>
        </p:spPr>
      </p:sp>
      <p:sp>
        <p:nvSpPr>
          <p:cNvPr id="17" name="Text 15"/>
          <p:cNvSpPr txBox="1"/>
          <p:nvPr/>
        </p:nvSpPr>
        <p:spPr>
          <a:xfrm>
            <a:off x="6903720" y="1280160"/>
            <a:ext cx="1691640" cy="566928"/>
          </a:xfrm>
          <a:prstGeom prst="rect">
            <a:avLst/>
          </a:prstGeom>
          <a:noFill/>
          <a:ln/>
        </p:spPr>
        <p:txBody>
          <a:bodyPr wrap="square" lIns="0" tIns="0" rIns="0" bIns="0" rtlCol="0" anchor="ctr"/>
          <a:lstStyle/>
          <a:p>
            <a:pPr algn="ctr" indent="0" marL="0">
              <a:buNone/>
            </a:pPr>
            <a:r>
              <a:rPr lang="en-US" sz="1300" b="1" dirty="0">
                <a:solidFill>
                  <a:srgbClr val="FFFFFF"/>
                </a:solidFill>
              </a:rPr>
              <a:t>Ranking  E(t)</a:t>
            </a:r>
            <a:endParaRPr lang="en-US" sz="1300" dirty="0"/>
          </a:p>
          <a:p>
            <a:pPr algn="ctr" indent="0" marL="0">
              <a:buNone/>
            </a:pPr>
            <a:r>
              <a:rPr lang="en-US" sz="1000" dirty="0">
                <a:solidFill>
                  <a:srgbClr val="FFFFFF"/>
                </a:solidFill>
              </a:rPr>
              <a:t>observed</a:t>
            </a:r>
            <a:endParaRPr lang="en-US" sz="1300" dirty="0"/>
          </a:p>
        </p:txBody>
      </p:sp>
      <p:sp>
        <p:nvSpPr>
          <p:cNvPr id="18" name="Text 16"/>
          <p:cNvSpPr txBox="1"/>
          <p:nvPr/>
        </p:nvSpPr>
        <p:spPr>
          <a:xfrm>
            <a:off x="457200" y="2212848"/>
            <a:ext cx="8229600" cy="256032"/>
          </a:xfrm>
          <a:prstGeom prst="rect">
            <a:avLst/>
          </a:prstGeom>
          <a:noFill/>
          <a:ln/>
        </p:spPr>
        <p:txBody>
          <a:bodyPr wrap="square" lIns="0" tIns="0" rIns="0" bIns="0" rtlCol="0" anchor="t"/>
          <a:lstStyle/>
          <a:p>
            <a:pPr indent="0" marL="0">
              <a:buNone/>
            </a:pPr>
            <a:r>
              <a:rPr lang="en-US" sz="1200" b="1" dirty="0">
                <a:solidFill>
                  <a:schemeClr val="tx1"/>
                </a:solidFill>
              </a:rPr>
              <a:t>Joint model (Eq. 1): prior × skill drift × performance noise × ranking</a:t>
            </a:r>
            <a:endParaRPr lang="en-US" sz="1200" dirty="0"/>
          </a:p>
        </p:txBody>
      </p:sp>
      <p:pic>
        <p:nvPicPr>
          <p:cNvPr id="19" name="Image 0" descr="Pr(S,P,E) = product over players of the initial skill prior, the skill evolution model, the performance model and the evidence model">    </p:cNvPr>
          <p:cNvPicPr>
            <a:picLocks noChangeAspect="1"/>
          </p:cNvPicPr>
          <p:nvPr/>
        </p:nvPicPr>
        <p:blipFill>
          <a:blip r:embed="rId1"/>
          <a:stretch>
            <a:fillRect/>
          </a:stretch>
        </p:blipFill>
        <p:spPr>
          <a:xfrm>
            <a:off x="457200" y="2487168"/>
            <a:ext cx="6038088" cy="475488"/>
          </a:xfrm>
          <a:prstGeom prst="rect">
            <a:avLst/>
          </a:prstGeom>
        </p:spPr>
      </p:pic>
      <p:sp>
        <p:nvSpPr>
          <p:cNvPr id="20" name="Text 17"/>
          <p:cNvSpPr txBox="1"/>
          <p:nvPr/>
        </p:nvSpPr>
        <p:spPr>
          <a:xfrm>
            <a:off x="457200" y="3154680"/>
            <a:ext cx="4846320" cy="1463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2"/>
                </a:solidFill>
              </a:rPr>
              <a:t>Each player's performance is their skill plus noise (Gaussian, or heavy-tailed logistic); only the ranking is seen</a:t>
            </a:r>
            <a:endParaRPr lang="en-US" sz="1250" dirty="0"/>
          </a:p>
          <a:p>
            <a:pPr marL="177800" indent="-177800">
              <a:spcAft>
                <a:spcPts val="600"/>
              </a:spcAft>
              <a:buSzPct val="100000"/>
              <a:buChar char="•"/>
            </a:pPr>
            <a:r>
              <a:rPr lang="en-US" sz="1250" dirty="0">
                <a:solidFill>
                  <a:schemeClr val="tx2"/>
                </a:solidFill>
              </a:rPr>
              <a:t>Key insight: with thousands of players, a ranking pins down each performance almost exactly (Doob's consistency theorem)</a:t>
            </a:r>
            <a:endParaRPr lang="en-US" sz="1250" dirty="0"/>
          </a:p>
          <a:p>
            <a:pPr marL="177800" indent="-177800">
              <a:spcAft>
                <a:spcPts val="600"/>
              </a:spcAft>
              <a:buSzPct val="100000"/>
              <a:buChar char="•"/>
            </a:pPr>
            <a:r>
              <a:rPr lang="en-US" sz="1250" dirty="0">
                <a:solidFill>
                  <a:schemeClr val="tx2"/>
                </a:solidFill>
              </a:rPr>
              <a:t>So players decouple: the update is two 1-D problems per player, first find the performance, then the new rating</a:t>
            </a:r>
            <a:endParaRPr lang="en-US" sz="1250" dirty="0"/>
          </a:p>
        </p:txBody>
      </p:sp>
      <p:sp>
        <p:nvSpPr>
          <p:cNvPr id="21" name="Shape 18"/>
          <p:cNvSpPr/>
          <p:nvPr/>
        </p:nvSpPr>
        <p:spPr>
          <a:xfrm>
            <a:off x="5532120" y="3154680"/>
            <a:ext cx="3154680" cy="1371600"/>
          </a:xfrm>
          <a:prstGeom prst="roundRect">
            <a:avLst>
              <a:gd name="adj" fmla="val 5333"/>
            </a:avLst>
          </a:prstGeom>
          <a:solidFill>
            <a:schemeClr val="bg2"/>
          </a:solidFill>
          <a:ln w="12700">
            <a:solidFill>
              <a:schemeClr val="bg2"/>
            </a:solidFill>
            <a:prstDash val="solid"/>
          </a:ln>
        </p:spPr>
      </p:sp>
      <p:sp>
        <p:nvSpPr>
          <p:cNvPr id="22" name="Text 19"/>
          <p:cNvSpPr txBox="1"/>
          <p:nvPr/>
        </p:nvSpPr>
        <p:spPr>
          <a:xfrm>
            <a:off x="5669280" y="3246120"/>
            <a:ext cx="2926080" cy="274320"/>
          </a:xfrm>
          <a:prstGeom prst="rect">
            <a:avLst/>
          </a:prstGeom>
          <a:noFill/>
          <a:ln/>
        </p:spPr>
        <p:txBody>
          <a:bodyPr wrap="square" lIns="0" tIns="0" rIns="0" bIns="0" rtlCol="0" anchor="t"/>
          <a:lstStyle/>
          <a:p>
            <a:pPr indent="0" marL="0">
              <a:buNone/>
            </a:pPr>
            <a:r>
              <a:rPr lang="en-US" sz="1200" b="1" dirty="0">
                <a:solidFill>
                  <a:schemeClr val="tx1"/>
                </a:solidFill>
              </a:rPr>
              <a:t>Rating = most probable skill (MAP)</a:t>
            </a:r>
            <a:endParaRPr lang="en-US" sz="1200" dirty="0"/>
          </a:p>
        </p:txBody>
      </p:sp>
      <p:pic>
        <p:nvPicPr>
          <p:cNvPr id="23" name="Image 1" descr="mu = argmax over s of prior(s) times likelihood of the observed performance">    </p:cNvPr>
          <p:cNvPicPr>
            <a:picLocks noChangeAspect="1"/>
          </p:cNvPicPr>
          <p:nvPr/>
        </p:nvPicPr>
        <p:blipFill>
          <a:blip r:embed="rId2"/>
          <a:stretch>
            <a:fillRect/>
          </a:stretch>
        </p:blipFill>
        <p:spPr>
          <a:xfrm>
            <a:off x="5669280" y="3611880"/>
            <a:ext cx="2880360" cy="241455"/>
          </a:xfrm>
          <a:prstGeom prst="rect">
            <a:avLst/>
          </a:prstGeom>
        </p:spPr>
      </p:pic>
      <p:sp>
        <p:nvSpPr>
          <p:cNvPr id="24" name="Text 20"/>
          <p:cNvSpPr txBox="1"/>
          <p:nvPr/>
        </p:nvSpPr>
        <p:spPr>
          <a:xfrm>
            <a:off x="5669280" y="4069080"/>
            <a:ext cx="2926080" cy="274320"/>
          </a:xfrm>
          <a:prstGeom prst="rect">
            <a:avLst/>
          </a:prstGeom>
          <a:noFill/>
          <a:ln/>
        </p:spPr>
        <p:txBody>
          <a:bodyPr wrap="square" lIns="0" tIns="0" rIns="0" bIns="0" rtlCol="0" anchor="t"/>
          <a:lstStyle/>
          <a:p>
            <a:pPr indent="0" marL="0">
              <a:buNone/>
            </a:pPr>
            <a:r>
              <a:rPr lang="en-US" sz="1100" dirty="0">
                <a:solidFill>
                  <a:srgbClr val="6B7280"/>
                </a:solidFill>
              </a:rPr>
              <a:t>prior × likelihood of this round's performance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p>
            <a:pPr indent="0" marL="0">
              <a:buNone/>
            </a:pPr>
            <a:r>
              <a:rPr lang="en-US" sz="1100" b="1" spc="200" kern="0" dirty="0">
                <a:solidFill>
                  <a:schemeClr val="accent2"/>
                </a:solidFill>
              </a:rPr>
              <a:t>PROPOSED ARCHITECTURE · 1 OF 2</a:t>
            </a:r>
            <a:endParaRPr lang="en-US" sz="1100" dirty="0"/>
          </a:p>
        </p:txBody>
      </p:sp>
      <p:sp>
        <p:nvSpPr>
          <p:cNvPr id="3" name="Text 0"/>
          <p:cNvSpPr/>
          <p:nvPr>
            <p:ph idx="101" type="title" hasCustomPrompt="1"/>
          </p:nvPr>
        </p:nvSpPr>
        <p:spPr>
          <a:xfrm>
            <a:off x="457200" y="548640"/>
            <a:ext cx="8229600" cy="548640"/>
          </a:xfrm>
          <a:prstGeom prst="rect">
            <a:avLst/>
          </a:prstGeom>
          <a:noFill/>
          <a:ln/>
        </p:spPr>
        <p:txBody>
          <a:bodyPr wrap="square"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Each round: two one-dimensional solves per player</a:t>
            </a:r>
            <a:endParaRPr lang="en-US" sz="2400" dirty="0"/>
          </a:p>
        </p:txBody>
      </p:sp>
      <p:sp>
        <p:nvSpPr>
          <p:cNvPr id="4" name="Shape 2"/>
          <p:cNvSpPr/>
          <p:nvPr/>
        </p:nvSpPr>
        <p:spPr>
          <a:xfrm>
            <a:off x="457200" y="1280160"/>
            <a:ext cx="4023360" cy="3337560"/>
          </a:xfrm>
          <a:prstGeom prst="roundRect">
            <a:avLst>
              <a:gd name="adj" fmla="val 2192"/>
            </a:avLst>
          </a:prstGeom>
          <a:solidFill>
            <a:schemeClr val="bg2"/>
          </a:solidFill>
          <a:ln w="12700">
            <a:solidFill>
              <a:schemeClr val="bg2"/>
            </a:solidFill>
            <a:prstDash val="solid"/>
          </a:ln>
        </p:spPr>
      </p:sp>
      <p:sp>
        <p:nvSpPr>
          <p:cNvPr id="5" name="Text 3"/>
          <p:cNvSpPr txBox="1"/>
          <p:nvPr/>
        </p:nvSpPr>
        <p:spPr>
          <a:xfrm>
            <a:off x="640080" y="1389888"/>
            <a:ext cx="3657600" cy="292608"/>
          </a:xfrm>
          <a:prstGeom prst="rect">
            <a:avLst/>
          </a:prstGeom>
          <a:noFill/>
          <a:ln/>
        </p:spPr>
        <p:txBody>
          <a:bodyPr wrap="square" lIns="0" tIns="0" rIns="0" bIns="0" rtlCol="0" anchor="t"/>
          <a:lstStyle/>
          <a:p>
            <a:pPr indent="0" marL="0">
              <a:buNone/>
            </a:pPr>
            <a:r>
              <a:rPr lang="en-US" sz="1400" b="1" dirty="0">
                <a:solidFill>
                  <a:srgbClr val="13213A"/>
                </a:solidFill>
              </a:rPr>
              <a:t>Phase 1 · performance from the ranking</a:t>
            </a:r>
            <a:endParaRPr lang="en-US" sz="1400" dirty="0"/>
          </a:p>
        </p:txBody>
      </p:sp>
      <p:sp>
        <p:nvSpPr>
          <p:cNvPr id="6" name="Shape 4"/>
          <p:cNvSpPr/>
          <p:nvPr/>
        </p:nvSpPr>
        <p:spPr>
          <a:xfrm>
            <a:off x="4663440" y="1280160"/>
            <a:ext cx="4023360" cy="3337560"/>
          </a:xfrm>
          <a:prstGeom prst="roundRect">
            <a:avLst>
              <a:gd name="adj" fmla="val 2192"/>
            </a:avLst>
          </a:prstGeom>
          <a:solidFill>
            <a:schemeClr val="bg2"/>
          </a:solidFill>
          <a:ln w="12700">
            <a:solidFill>
              <a:schemeClr val="bg2"/>
            </a:solidFill>
            <a:prstDash val="solid"/>
          </a:ln>
        </p:spPr>
      </p:sp>
      <p:sp>
        <p:nvSpPr>
          <p:cNvPr id="7" name="Text 5"/>
          <p:cNvSpPr txBox="1"/>
          <p:nvPr/>
        </p:nvSpPr>
        <p:spPr>
          <a:xfrm>
            <a:off x="4846320" y="1389888"/>
            <a:ext cx="3657600" cy="292608"/>
          </a:xfrm>
          <a:prstGeom prst="rect">
            <a:avLst/>
          </a:prstGeom>
          <a:noFill/>
          <a:ln/>
        </p:spPr>
        <p:txBody>
          <a:bodyPr wrap="square" lIns="0" tIns="0" rIns="0" bIns="0" rtlCol="0" anchor="t"/>
          <a:lstStyle/>
          <a:p>
            <a:pPr indent="0" marL="0">
              <a:buNone/>
            </a:pPr>
            <a:r>
              <a:rPr lang="en-US" sz="1400" b="1" dirty="0">
                <a:solidFill>
                  <a:srgbClr val="D9622B"/>
                </a:solidFill>
              </a:rPr>
              <a:t>Phase 2 · rating from all performances</a:t>
            </a:r>
            <a:endParaRPr lang="en-US" sz="1400" dirty="0"/>
          </a:p>
        </p:txBody>
      </p:sp>
      <p:pic>
        <p:nvPicPr>
          <p:cNvPr id="8" name="Image 0" descr="Q_i(p) = sum over players i lost to of l_j(p), plus ties d_j(p), plus players i beat v_j(p), equals zero">    </p:cNvPr>
          <p:cNvPicPr>
            <a:picLocks noChangeAspect="1"/>
          </p:cNvPicPr>
          <p:nvPr/>
        </p:nvPicPr>
        <p:blipFill>
          <a:blip r:embed="rId1"/>
          <a:stretch>
            <a:fillRect/>
          </a:stretch>
        </p:blipFill>
        <p:spPr>
          <a:xfrm>
            <a:off x="640080" y="1783080"/>
            <a:ext cx="3657600" cy="518788"/>
          </a:xfrm>
          <a:prstGeom prst="rect">
            <a:avLst/>
          </a:prstGeom>
        </p:spPr>
      </p:pic>
      <p:pic>
        <p:nvPicPr>
          <p:cNvPr id="9" name="Image 1" descr="Logistic win probability F_j with spread delta_j squared = sigma_j squared + beta squared">    </p:cNvPr>
          <p:cNvPicPr>
            <a:picLocks noChangeAspect="1"/>
          </p:cNvPicPr>
          <p:nvPr/>
        </p:nvPicPr>
        <p:blipFill>
          <a:blip r:embed="rId2"/>
          <a:stretch>
            <a:fillRect/>
          </a:stretch>
        </p:blipFill>
        <p:spPr>
          <a:xfrm>
            <a:off x="640080" y="2411596"/>
            <a:ext cx="3657600" cy="460452"/>
          </a:xfrm>
          <a:prstGeom prst="rect">
            <a:avLst/>
          </a:prstGeom>
        </p:spPr>
      </p:pic>
      <p:pic>
        <p:nvPicPr>
          <p:cNvPr id="10" name="Image 2" descr="Loss term l_j = -F_j / delta-bar_j, win term v_j = (1 - F_j) / delta-bar_j, tie d_j = l_j + v_j">    </p:cNvPr>
          <p:cNvPicPr>
            <a:picLocks noChangeAspect="1"/>
          </p:cNvPicPr>
          <p:nvPr/>
        </p:nvPicPr>
        <p:blipFill>
          <a:blip r:embed="rId3"/>
          <a:stretch>
            <a:fillRect/>
          </a:stretch>
        </p:blipFill>
        <p:spPr>
          <a:xfrm>
            <a:off x="640080" y="2963488"/>
            <a:ext cx="3657600" cy="462662"/>
          </a:xfrm>
          <a:prstGeom prst="rect">
            <a:avLst/>
          </a:prstGeom>
        </p:spPr>
      </p:pic>
      <p:sp>
        <p:nvSpPr>
          <p:cNvPr id="11" name="Text 6"/>
          <p:cNvSpPr txBox="1"/>
          <p:nvPr/>
        </p:nvSpPr>
        <p:spPr>
          <a:xfrm>
            <a:off x="640080" y="3535878"/>
            <a:ext cx="3657600" cy="685800"/>
          </a:xfrm>
          <a:prstGeom prst="rect">
            <a:avLst/>
          </a:prstGeom>
          <a:noFill/>
          <a:ln/>
        </p:spPr>
        <p:txBody>
          <a:bodyPr wrap="square" lIns="0" tIns="0" rIns="0" bIns="0" rtlCol="0" anchor="t"/>
          <a:lstStyle/>
          <a:p>
            <a:pPr indent="0" marL="0">
              <a:buNone/>
            </a:pPr>
            <a:r>
              <a:rPr lang="en-US" sz="1150" dirty="0">
                <a:solidFill>
                  <a:schemeClr val="tx2"/>
                </a:solidFill>
              </a:rPr>
              <a:t>Losses pull p down, wins push it up; p is where expected rank equals actual rank. Q is decreasing, so Newton finds the unique root.</a:t>
            </a:r>
            <a:endParaRPr lang="en-US" sz="1150" dirty="0"/>
          </a:p>
        </p:txBody>
      </p:sp>
      <p:pic>
        <p:nvPicPr>
          <p:cNvPr id="12" name="Image 3" descr="L'(s) = (s - p_0)/beta_0 squared + sum over past rounds of pi/(beta_k sqrt 3) tanh(pi (s - p_k)/(beta_k sqrt 12)) = 0">    </p:cNvPr>
          <p:cNvPicPr>
            <a:picLocks noChangeAspect="1"/>
          </p:cNvPicPr>
          <p:nvPr/>
        </p:nvPicPr>
        <p:blipFill>
          <a:blip r:embed="rId4"/>
          <a:stretch>
            <a:fillRect/>
          </a:stretch>
        </p:blipFill>
        <p:spPr>
          <a:xfrm>
            <a:off x="4846320" y="1783080"/>
            <a:ext cx="3657600" cy="400934"/>
          </a:xfrm>
          <a:prstGeom prst="rect">
            <a:avLst/>
          </a:prstGeom>
        </p:spPr>
      </p:pic>
      <p:pic>
        <p:nvPicPr>
          <p:cNvPr id="13" name="Image 4" descr="mu_t = weighted mean of past performances; 1/sigma_t squared = sum of 1/beta_k squared">    </p:cNvPr>
          <p:cNvPicPr>
            <a:picLocks noChangeAspect="1"/>
          </p:cNvPicPr>
          <p:nvPr/>
        </p:nvPicPr>
        <p:blipFill>
          <a:blip r:embed="rId5"/>
          <a:stretch>
            <a:fillRect/>
          </a:stretch>
        </p:blipFill>
        <p:spPr>
          <a:xfrm>
            <a:off x="4846320" y="2321174"/>
            <a:ext cx="2377440" cy="873585"/>
          </a:xfrm>
          <a:prstGeom prst="rect">
            <a:avLst/>
          </a:prstGeom>
        </p:spPr>
      </p:pic>
      <p:sp>
        <p:nvSpPr>
          <p:cNvPr id="14" name="Text 7"/>
          <p:cNvSpPr txBox="1"/>
          <p:nvPr/>
        </p:nvSpPr>
        <p:spPr>
          <a:xfrm>
            <a:off x="4846320" y="3304487"/>
            <a:ext cx="3657600" cy="868680"/>
          </a:xfrm>
          <a:prstGeom prst="rect">
            <a:avLst/>
          </a:prstGeom>
          <a:noFill/>
          <a:ln/>
        </p:spPr>
        <p:txBody>
          <a:bodyPr wrap="square" lIns="0" tIns="0" rIns="0" bIns="0" rtlCol="0" anchor="t"/>
          <a:lstStyle/>
          <a:p>
            <a:pPr indent="0" marL="0">
              <a:buNone/>
            </a:pPr>
            <a:r>
              <a:rPr lang="en-US" sz="1150" dirty="0">
                <a:solidFill>
                  <a:schemeClr val="tx2"/>
                </a:solidFill>
              </a:rPr>
              <a:t>The rating is a weighted average of past performances. Each weight is about 1/β² for a typical round but shrinks toward 0 for a freak round, so outliers barely move the rating (the “R” in MMR).</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p>
            <a:pPr indent="0" marL="0">
              <a:buNone/>
            </a:pPr>
            <a:r>
              <a:rPr lang="en-US" sz="1100" b="1" spc="200" kern="0" dirty="0">
                <a:solidFill>
                  <a:schemeClr val="accent2"/>
                </a:solidFill>
              </a:rPr>
              <a:t>PROPOSED ARCHITECTURE · 2 OF 2</a:t>
            </a:r>
            <a:endParaRPr lang="en-US" sz="1100" dirty="0"/>
          </a:p>
        </p:txBody>
      </p:sp>
      <p:sp>
        <p:nvSpPr>
          <p:cNvPr id="3" name="Text 0"/>
          <p:cNvSpPr/>
          <p:nvPr>
            <p:ph idx="101" type="title" hasCustomPrompt="1"/>
          </p:nvPr>
        </p:nvSpPr>
        <p:spPr>
          <a:xfrm>
            <a:off x="457200" y="548640"/>
            <a:ext cx="8229600" cy="548640"/>
          </a:xfrm>
          <a:prstGeom prst="rect">
            <a:avLst/>
          </a:prstGeom>
          <a:noFill/>
          <a:ln/>
        </p:spPr>
        <p:txBody>
          <a:bodyPr wrap="square"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Between rounds: skill drift, and our extension</a:t>
            </a:r>
            <a:endParaRPr lang="en-US" sz="2400" dirty="0"/>
          </a:p>
        </p:txBody>
      </p:sp>
      <p:sp>
        <p:nvSpPr>
          <p:cNvPr id="4" name="Shape 2"/>
          <p:cNvSpPr/>
          <p:nvPr/>
        </p:nvSpPr>
        <p:spPr>
          <a:xfrm>
            <a:off x="457200" y="1280160"/>
            <a:ext cx="4023360" cy="2331720"/>
          </a:xfrm>
          <a:prstGeom prst="roundRect">
            <a:avLst>
              <a:gd name="adj" fmla="val 3137"/>
            </a:avLst>
          </a:prstGeom>
          <a:solidFill>
            <a:schemeClr val="bg2"/>
          </a:solidFill>
          <a:ln w="12700">
            <a:solidFill>
              <a:schemeClr val="bg2"/>
            </a:solidFill>
            <a:prstDash val="solid"/>
          </a:ln>
        </p:spPr>
      </p:sp>
      <p:sp>
        <p:nvSpPr>
          <p:cNvPr id="5" name="Text 3"/>
          <p:cNvSpPr txBox="1"/>
          <p:nvPr/>
        </p:nvSpPr>
        <p:spPr>
          <a:xfrm>
            <a:off x="640080" y="1389888"/>
            <a:ext cx="3657600" cy="292608"/>
          </a:xfrm>
          <a:prstGeom prst="rect">
            <a:avLst/>
          </a:prstGeom>
          <a:noFill/>
          <a:ln/>
        </p:spPr>
        <p:txBody>
          <a:bodyPr wrap="square" lIns="0" tIns="0" rIns="0" bIns="0" rtlCol="0" anchor="t"/>
          <a:lstStyle/>
          <a:p>
            <a:pPr indent="0" marL="0">
              <a:buNone/>
            </a:pPr>
            <a:r>
              <a:rPr lang="en-US" sz="1400" b="1" dirty="0">
                <a:solidFill>
                  <a:srgbClr val="13213A"/>
                </a:solidFill>
              </a:rPr>
              <a:t>Pseudodiffusion (paper, Algorithm 2)</a:t>
            </a:r>
            <a:endParaRPr lang="en-US" sz="1400" dirty="0"/>
          </a:p>
        </p:txBody>
      </p:sp>
      <p:pic>
        <p:nvPicPr>
          <p:cNvPr id="6" name="Image 0" descr="kappa = (1 + gamma squared / sigma squared) to the minus 1">    </p:cNvPr>
          <p:cNvPicPr>
            <a:picLocks noChangeAspect="1"/>
          </p:cNvPicPr>
          <p:nvPr/>
        </p:nvPicPr>
        <p:blipFill>
          <a:blip r:embed="rId1"/>
          <a:stretch>
            <a:fillRect/>
          </a:stretch>
        </p:blipFill>
        <p:spPr>
          <a:xfrm>
            <a:off x="640080" y="1783080"/>
            <a:ext cx="1591056" cy="292608"/>
          </a:xfrm>
          <a:prstGeom prst="rect">
            <a:avLst/>
          </a:prstGeom>
        </p:spPr>
      </p:pic>
      <p:pic>
        <p:nvPicPr>
          <p:cNvPr id="7" name="Image 1" descr="w_k becomes kappa^(1+rho) w_k; w_0 becomes kappa w_0 + (kappa - kappa^(1+rho)) times the sum of w_k">    </p:cNvPr>
          <p:cNvPicPr>
            <a:picLocks noChangeAspect="1"/>
          </p:cNvPicPr>
          <p:nvPr/>
        </p:nvPicPr>
        <p:blipFill>
          <a:blip r:embed="rId2"/>
          <a:stretch>
            <a:fillRect/>
          </a:stretch>
        </p:blipFill>
        <p:spPr>
          <a:xfrm>
            <a:off x="640080" y="2185416"/>
            <a:ext cx="3657600" cy="414120"/>
          </a:xfrm>
          <a:prstGeom prst="rect">
            <a:avLst/>
          </a:prstGeom>
        </p:spPr>
      </p:pic>
      <p:sp>
        <p:nvSpPr>
          <p:cNvPr id="8" name="Text 4"/>
          <p:cNvSpPr txBox="1"/>
          <p:nvPr/>
        </p:nvSpPr>
        <p:spPr>
          <a:xfrm>
            <a:off x="640080" y="2709264"/>
            <a:ext cx="3657600" cy="640080"/>
          </a:xfrm>
          <a:prstGeom prst="rect">
            <a:avLst/>
          </a:prstGeom>
          <a:noFill/>
          <a:ln/>
        </p:spPr>
        <p:txBody>
          <a:bodyPr wrap="square" lIns="0" tIns="0" rIns="0" bIns="0" rtlCol="0" anchor="t"/>
          <a:lstStyle/>
          <a:p>
            <a:pPr indent="0" marL="0">
              <a:buNone/>
            </a:pPr>
            <a:r>
              <a:rPr lang="en-US" sz="1150" dirty="0">
                <a:solidFill>
                  <a:schemeClr val="tx2"/>
                </a:solidFill>
              </a:rPr>
              <a:t>Old rounds fade; their weight moves onto a Gaussian centred on the current rating, so uncertainty grows by γ² while the rating stays put.</a:t>
            </a:r>
            <a:endParaRPr lang="en-US" sz="1150" dirty="0"/>
          </a:p>
        </p:txBody>
      </p:sp>
      <p:sp>
        <p:nvSpPr>
          <p:cNvPr id="9" name="Shape 5"/>
          <p:cNvSpPr/>
          <p:nvPr/>
        </p:nvSpPr>
        <p:spPr>
          <a:xfrm>
            <a:off x="4663440" y="1280160"/>
            <a:ext cx="4023360" cy="2331720"/>
          </a:xfrm>
          <a:prstGeom prst="roundRect">
            <a:avLst>
              <a:gd name="adj" fmla="val 3137"/>
            </a:avLst>
          </a:prstGeom>
          <a:solidFill>
            <a:srgbClr val="DFF3EA"/>
          </a:solidFill>
          <a:ln w="12700">
            <a:solidFill>
              <a:srgbClr val="DFF3EA"/>
            </a:solidFill>
            <a:prstDash val="solid"/>
          </a:ln>
        </p:spPr>
      </p:sp>
      <p:sp>
        <p:nvSpPr>
          <p:cNvPr id="10" name="Text 6"/>
          <p:cNvSpPr txBox="1"/>
          <p:nvPr/>
        </p:nvSpPr>
        <p:spPr>
          <a:xfrm>
            <a:off x="4846320" y="1389888"/>
            <a:ext cx="3657600" cy="292608"/>
          </a:xfrm>
          <a:prstGeom prst="rect">
            <a:avLst/>
          </a:prstGeom>
          <a:noFill/>
          <a:ln/>
        </p:spPr>
        <p:txBody>
          <a:bodyPr wrap="square" lIns="0" tIns="0" rIns="0" bIns="0" rtlCol="0" anchor="t"/>
          <a:lstStyle/>
          <a:p>
            <a:pPr indent="0" marL="0">
              <a:buNone/>
            </a:pPr>
            <a:r>
              <a:rPr lang="en-US" sz="1400" b="1" dirty="0">
                <a:solidFill>
                  <a:srgbClr val="147A55"/>
                </a:solidFill>
              </a:rPr>
              <a:t>Our extension: time-aware drift</a:t>
            </a:r>
            <a:endParaRPr lang="en-US" sz="1400" dirty="0"/>
          </a:p>
        </p:txBody>
      </p:sp>
      <p:pic>
        <p:nvPicPr>
          <p:cNvPr id="11" name="Image 2" descr="gamma_i,t squared = w sigma_lim squared + c times days since player i last played">    </p:cNvPr>
          <p:cNvPicPr>
            <a:picLocks noChangeAspect="1"/>
          </p:cNvPicPr>
          <p:nvPr/>
        </p:nvPicPr>
        <p:blipFill>
          <a:blip r:embed="rId3"/>
          <a:stretch>
            <a:fillRect/>
          </a:stretch>
        </p:blipFill>
        <p:spPr>
          <a:xfrm>
            <a:off x="4846320" y="1783080"/>
            <a:ext cx="2292096" cy="332232"/>
          </a:xfrm>
          <a:prstGeom prst="rect">
            <a:avLst/>
          </a:prstGeom>
        </p:spPr>
      </p:pic>
      <p:pic>
        <p:nvPicPr>
          <p:cNvPr id="12" name="Image 3" descr="beta squared = (1 + 1/w) sigma_lim squared">    </p:cNvPr>
          <p:cNvPicPr>
            <a:picLocks noChangeAspect="1"/>
          </p:cNvPicPr>
          <p:nvPr/>
        </p:nvPicPr>
        <p:blipFill>
          <a:blip r:embed="rId4"/>
          <a:stretch>
            <a:fillRect/>
          </a:stretch>
        </p:blipFill>
        <p:spPr>
          <a:xfrm>
            <a:off x="4846320" y="2206752"/>
            <a:ext cx="1588008" cy="280416"/>
          </a:xfrm>
          <a:prstGeom prst="rect">
            <a:avLst/>
          </a:prstGeom>
        </p:spPr>
      </p:pic>
      <p:sp>
        <p:nvSpPr>
          <p:cNvPr id="13" name="Text 7"/>
          <p:cNvSpPr txBox="1"/>
          <p:nvPr/>
        </p:nvSpPr>
        <p:spPr>
          <a:xfrm>
            <a:off x="4846320" y="2578608"/>
            <a:ext cx="3657600" cy="685800"/>
          </a:xfrm>
          <a:prstGeom prst="rect">
            <a:avLst/>
          </a:prstGeom>
          <a:noFill/>
          <a:ln/>
        </p:spPr>
        <p:txBody>
          <a:bodyPr wrap="square" lIns="0" tIns="0" rIns="0" bIns="0" rtlCol="0" anchor="t"/>
          <a:lstStyle/>
          <a:p>
            <a:pPr indent="0" marL="0">
              <a:buNone/>
            </a:pPr>
            <a:r>
              <a:rPr lang="en-US" sz="1150" dirty="0">
                <a:solidFill>
                  <a:schemeClr val="tx2"/>
                </a:solidFill>
              </a:rPr>
              <a:t>The paper adds drift per round played only. We add c per day away (c = 3–10 rating²/day). It never reads performances, so “never pays to lose” still holds.</a:t>
            </a:r>
            <a:endParaRPr lang="en-US" sz="1150" dirty="0"/>
          </a:p>
        </p:txBody>
      </p:sp>
      <p:sp>
        <p:nvSpPr>
          <p:cNvPr id="14" name="Shape 8"/>
          <p:cNvSpPr/>
          <p:nvPr/>
        </p:nvSpPr>
        <p:spPr>
          <a:xfrm>
            <a:off x="457200" y="3749040"/>
            <a:ext cx="2514600" cy="868680"/>
          </a:xfrm>
          <a:prstGeom prst="roundRect">
            <a:avLst>
              <a:gd name="adj" fmla="val 8421"/>
            </a:avLst>
          </a:prstGeom>
          <a:solidFill>
            <a:schemeClr val="bg2"/>
          </a:solidFill>
          <a:ln w="12700">
            <a:solidFill>
              <a:schemeClr val="bg2"/>
            </a:solidFill>
            <a:prstDash val="solid"/>
          </a:ln>
        </p:spPr>
      </p:sp>
      <p:sp>
        <p:nvSpPr>
          <p:cNvPr id="15" name="Text 9"/>
          <p:cNvSpPr txBox="1"/>
          <p:nvPr/>
        </p:nvSpPr>
        <p:spPr>
          <a:xfrm>
            <a:off x="594360" y="3794760"/>
            <a:ext cx="2286000" cy="228600"/>
          </a:xfrm>
          <a:prstGeom prst="rect">
            <a:avLst/>
          </a:prstGeom>
          <a:noFill/>
          <a:ln/>
        </p:spPr>
        <p:txBody>
          <a:bodyPr wrap="square" lIns="0" tIns="0" rIns="0" bIns="0" rtlCol="0" anchor="t"/>
          <a:lstStyle/>
          <a:p>
            <a:pPr indent="0" marL="0">
              <a:buNone/>
            </a:pPr>
            <a:r>
              <a:rPr lang="en-US" sz="1100" b="1" dirty="0">
                <a:solidFill>
                  <a:srgbClr val="13213A"/>
                </a:solidFill>
              </a:rPr>
              <a:t>Robust (Thm 5.7)</a:t>
            </a:r>
            <a:endParaRPr lang="en-US" sz="1100" dirty="0"/>
          </a:p>
        </p:txBody>
      </p:sp>
      <p:pic>
        <p:nvPicPr>
          <p:cNvPr id="16" name="Image 4" descr="rating change is at most pi beta_0 squared over beta_t sqrt 3">    </p:cNvPr>
          <p:cNvPicPr>
            <a:picLocks noChangeAspect="1"/>
          </p:cNvPicPr>
          <p:nvPr/>
        </p:nvPicPr>
        <p:blipFill>
          <a:blip r:embed="rId5"/>
          <a:stretch>
            <a:fillRect/>
          </a:stretch>
        </p:blipFill>
        <p:spPr>
          <a:xfrm>
            <a:off x="594360" y="4041648"/>
            <a:ext cx="1828800" cy="603594"/>
          </a:xfrm>
          <a:prstGeom prst="rect">
            <a:avLst/>
          </a:prstGeom>
        </p:spPr>
      </p:pic>
      <p:sp>
        <p:nvSpPr>
          <p:cNvPr id="17" name="Shape 10"/>
          <p:cNvSpPr/>
          <p:nvPr/>
        </p:nvSpPr>
        <p:spPr>
          <a:xfrm>
            <a:off x="3108960" y="3749040"/>
            <a:ext cx="5577840" cy="868680"/>
          </a:xfrm>
          <a:prstGeom prst="roundRect">
            <a:avLst>
              <a:gd name="adj" fmla="val 8421"/>
            </a:avLst>
          </a:prstGeom>
          <a:solidFill>
            <a:schemeClr val="bg2"/>
          </a:solidFill>
          <a:ln w="12700">
            <a:solidFill>
              <a:schemeClr val="bg2"/>
            </a:solidFill>
            <a:prstDash val="solid"/>
          </a:ln>
        </p:spPr>
      </p:sp>
      <p:sp>
        <p:nvSpPr>
          <p:cNvPr id="18" name="Text 11"/>
          <p:cNvSpPr txBox="1"/>
          <p:nvPr/>
        </p:nvSpPr>
        <p:spPr>
          <a:xfrm>
            <a:off x="3246120" y="3822192"/>
            <a:ext cx="5303520" cy="749808"/>
          </a:xfrm>
          <a:prstGeom prst="rect">
            <a:avLst/>
          </a:prstGeom>
          <a:noFill/>
          <a:ln/>
        </p:spPr>
        <p:txBody>
          <a:bodyPr wrap="square" lIns="0" tIns="0" rIns="0" bIns="0" rtlCol="0" anchor="t"/>
          <a:lstStyle/>
          <a:p>
            <a:pPr indent="0" marL="0">
              <a:buNone/>
            </a:pPr>
            <a:r>
              <a:rPr lang="en-US" sz="1100" b="1" dirty="0">
                <a:solidFill>
                  <a:srgbClr val="13213A"/>
                </a:solidFill>
              </a:rPr>
              <a:t>Implementation: </a:t>
            </a:r>
            <a:pPr indent="0" marL="0">
              <a:buNone/>
            </a:pPr>
            <a:r>
              <a:rPr lang="en-US" sz="1100" dirty="0">
                <a:solidFill>
                  <a:schemeClr val="tx2"/>
                </a:solidFill>
              </a:rPr>
              <a:t>Numba-parallel kernels; opponents grouped by (μ, σ); nearest 500 groups per player; 32 stored rounds per player. Evaluation: tune on the first 10% of rounds, score the last 90%, players with ≥ 5 past rounds.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p>
            <a:pPr indent="0" marL="0">
              <a:buNone/>
            </a:pPr>
            <a:r>
              <a:rPr lang="en-US" sz="1100" b="1" spc="200" kern="0" dirty="0">
                <a:solidFill>
                  <a:schemeClr val="accent2"/>
                </a:solidFill>
              </a:rPr>
              <a:t>RESULTS</a:t>
            </a:r>
            <a:endParaRPr lang="en-US" sz="1100" dirty="0"/>
          </a:p>
        </p:txBody>
      </p:sp>
      <p:sp>
        <p:nvSpPr>
          <p:cNvPr id="3" name="Text 0"/>
          <p:cNvSpPr/>
          <p:nvPr>
            <p:ph idx="101" type="title" hasCustomPrompt="1"/>
          </p:nvPr>
        </p:nvSpPr>
        <p:spPr>
          <a:xfrm>
            <a:off x="457200" y="548640"/>
            <a:ext cx="8229600" cy="548640"/>
          </a:xfrm>
          <a:prstGeom prst="rect">
            <a:avLst/>
          </a:prstGeom>
          <a:noFill/>
          <a:ln/>
        </p:spPr>
        <p:txBody>
          <a:bodyPr wrap="square"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The paper reproduces, and its ranking holds on new data</a:t>
            </a:r>
            <a:endParaRPr lang="en-US" sz="2400" dirty="0"/>
          </a:p>
        </p:txBody>
      </p:sp>
      <p:graphicFrame>
        <p:nvGraphicFramePr>
          <p:cNvPr id="4" name="Chart 0" descr=""/>
          <p:cNvGraphicFramePr/>
          <p:nvPr/>
        </p:nvGraphicFramePr>
        <p:xfrm>
          <a:off x="365760" y="1234440"/>
          <a:ext cx="4480560" cy="3429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074920" y="1280160"/>
            <a:ext cx="3611880" cy="256032"/>
          </a:xfrm>
          <a:prstGeom prst="rect">
            <a:avLst/>
          </a:prstGeom>
          <a:noFill/>
          <a:ln/>
        </p:spPr>
        <p:txBody>
          <a:bodyPr wrap="square" lIns="0" tIns="0" rIns="0" bIns="0" rtlCol="0" anchor="t"/>
          <a:lstStyle/>
          <a:p>
            <a:pPr indent="0" marL="0">
              <a:buNone/>
            </a:pPr>
            <a:r>
              <a:rPr lang="en-US" sz="1200" b="1" dirty="0">
                <a:solidFill>
                  <a:schemeClr val="tx1"/>
                </a:solidFill>
              </a:rPr>
              <a:t>Replication on the paper's data</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74920" y="1572768"/>
          <a:ext cx="3611880" cy="914400"/>
        </p:xfrm>
        <a:graphic>
          <a:graphicData uri="http://schemas.openxmlformats.org/drawingml/2006/table">
            <a:tbl>
              <a:tblPr/>
              <a:tblGrid>
                <a:gridCol w="1965960"/>
                <a:gridCol w="777240"/>
                <a:gridCol w="868680"/>
              </a:tblGrid>
              <a:tr h="31089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Claim</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321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Paper</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321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Ours</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13213A"/>
                    </a:solidFill>
                  </a:tcPr>
                </a:tc>
              </a:tr>
              <a:tr h="310896">
                <a:tc>
                  <a:txBody>
                    <a:bodyPr/>
                    <a:lstStyle/>
                    <a:p>
                      <a:pPr indent="0" marL="0">
                        <a:buNone/>
                      </a:pPr>
                      <a:r>
                        <a:rPr lang="en-US" sz="1150" dirty="0">
                          <a:solidFill>
                            <a:srgbClr val="13213A"/>
                          </a:solidFill>
                          <a:latin typeface="Calibri" pitchFamily="34" charset="0"/>
                          <a:ea typeface="Calibri" pitchFamily="34" charset="-122"/>
                          <a:cs typeface="Calibri" pitchFamily="34" charset="-120"/>
                        </a:rPr>
                        <a:t>Codeforces accuracy</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150" dirty="0">
                          <a:solidFill>
                            <a:srgbClr val="13213A"/>
                          </a:solidFill>
                          <a:latin typeface="Calibri" pitchFamily="34" charset="0"/>
                          <a:ea typeface="Calibri" pitchFamily="34" charset="-122"/>
                          <a:cs typeface="Calibri" pitchFamily="34" charset="-120"/>
                        </a:rPr>
                        <a:t>78.6</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150" b="1" dirty="0">
                          <a:solidFill>
                            <a:srgbClr val="147A55"/>
                          </a:solidFill>
                          <a:latin typeface="Calibri" pitchFamily="34" charset="0"/>
                          <a:ea typeface="Calibri" pitchFamily="34" charset="-122"/>
                          <a:cs typeface="Calibri" pitchFamily="34" charset="-120"/>
                        </a:rPr>
                        <a:t>78.61</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10896">
                <a:tc>
                  <a:txBody>
                    <a:bodyPr/>
                    <a:lstStyle/>
                    <a:p>
                      <a:pPr indent="0" marL="0">
                        <a:buNone/>
                      </a:pPr>
                      <a:r>
                        <a:rPr lang="en-US" sz="1150" dirty="0">
                          <a:solidFill>
                            <a:srgbClr val="13213A"/>
                          </a:solidFill>
                          <a:latin typeface="Calibri" pitchFamily="34" charset="0"/>
                          <a:ea typeface="Calibri" pitchFamily="34" charset="-122"/>
                          <a:cs typeface="Calibri" pitchFamily="34" charset="-120"/>
                        </a:rPr>
                        <a:t>Synthetic accuracy</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150" dirty="0">
                          <a:solidFill>
                            <a:srgbClr val="13213A"/>
                          </a:solidFill>
                          <a:latin typeface="Calibri" pitchFamily="34" charset="0"/>
                          <a:ea typeface="Calibri" pitchFamily="34" charset="-122"/>
                          <a:cs typeface="Calibri" pitchFamily="34" charset="-120"/>
                        </a:rPr>
                        <a:t>81.7</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150" b="1" dirty="0">
                          <a:solidFill>
                            <a:srgbClr val="147A55"/>
                          </a:solidFill>
                          <a:latin typeface="Calibri" pitchFamily="34" charset="0"/>
                          <a:ea typeface="Calibri" pitchFamily="34" charset="-122"/>
                          <a:cs typeface="Calibri" pitchFamily="34" charset="-120"/>
                        </a:rPr>
                        <a:t>81.63</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10896">
                <a:tc>
                  <a:txBody>
                    <a:bodyPr/>
                    <a:lstStyle/>
                    <a:p>
                      <a:pPr indent="0" marL="0">
                        <a:buNone/>
                      </a:pPr>
                      <a:r>
                        <a:rPr lang="en-US" sz="1150" dirty="0">
                          <a:solidFill>
                            <a:srgbClr val="13213A"/>
                          </a:solidFill>
                          <a:latin typeface="Calibri" pitchFamily="34" charset="0"/>
                          <a:ea typeface="Calibri" pitchFamily="34" charset="-122"/>
                          <a:cs typeface="Calibri" pitchFamily="34" charset="-120"/>
                        </a:rPr>
                        <a:t>Speed vs exact Codeforces</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150" dirty="0">
                          <a:solidFill>
                            <a:srgbClr val="13213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algn="ctr" indent="0" marL="0">
                        <a:buNone/>
                      </a:pPr>
                      <a:r>
                        <a:rPr lang="en-US" sz="1150" b="1" dirty="0">
                          <a:solidFill>
                            <a:srgbClr val="147A55"/>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
        <p:nvSpPr>
          <p:cNvPr id="7" name="Shape 3"/>
          <p:cNvSpPr/>
          <p:nvPr/>
        </p:nvSpPr>
        <p:spPr>
          <a:xfrm>
            <a:off x="5074920" y="2926080"/>
            <a:ext cx="3611880" cy="1691640"/>
          </a:xfrm>
          <a:prstGeom prst="roundRect">
            <a:avLst>
              <a:gd name="adj" fmla="val 4324"/>
            </a:avLst>
          </a:prstGeom>
          <a:solidFill>
            <a:srgbClr val="DFF3EA"/>
          </a:solidFill>
          <a:ln w="12700">
            <a:solidFill>
              <a:srgbClr val="DFF3EA"/>
            </a:solidFill>
            <a:prstDash val="solid"/>
          </a:ln>
        </p:spPr>
      </p:sp>
      <p:sp>
        <p:nvSpPr>
          <p:cNvPr id="8" name="Text 4"/>
          <p:cNvSpPr txBox="1"/>
          <p:nvPr/>
        </p:nvSpPr>
        <p:spPr>
          <a:xfrm>
            <a:off x="5230368" y="3035808"/>
            <a:ext cx="3337560" cy="1508760"/>
          </a:xfrm>
          <a:prstGeom prst="rect">
            <a:avLst/>
          </a:prstGeom>
          <a:noFill/>
          <a:ln/>
        </p:spPr>
        <p:txBody>
          <a:bodyPr wrap="square" lIns="0" tIns="0" rIns="0" bIns="0" rtlCol="0" anchor="t"/>
          <a:lstStyle/>
          <a:p>
            <a:pPr indent="0" marL="0">
              <a:buNone/>
            </a:pPr>
            <a:r>
              <a:rPr lang="en-US" sz="1150" b="1" dirty="0">
                <a:solidFill>
                  <a:srgbClr val="147A55"/>
                </a:solidFill>
              </a:rPr>
              <a:t>Our time drift helps in every setting</a:t>
            </a:r>
            <a:endParaRPr lang="en-US" sz="1150" dirty="0"/>
          </a:p>
          <a:p>
            <a:pPr indent="0" marL="0">
              <a:buNone/>
            </a:pPr>
            <a:r>
              <a:rPr lang="en-US" sz="1150" dirty="0">
                <a:solidFill>
                  <a:schemeClr val="tx2"/>
                </a:solidFill>
              </a:rPr>
              <a:t>+0.02 to +0.10 points; every 95% interval is above zero on both Codeforces and AtCoder (bootstrap over rounds).</a:t>
            </a:r>
            <a:endParaRPr lang="en-US" sz="1150" dirty="0"/>
          </a:p>
          <a:p>
            <a:pPr indent="0" marL="0">
              <a:buNone/>
            </a:pPr>
            <a:r>
              <a:rPr lang="en-US" sz="500" dirty="0">
                <a:solidFill>
                  <a:schemeClr val="tx2"/>
                </a:solidFill>
              </a:rPr>
              <a:t> </a:t>
            </a:r>
            <a:endParaRPr lang="en-US" sz="1150" dirty="0"/>
          </a:p>
          <a:p>
            <a:pPr indent="0" marL="0">
              <a:buNone/>
            </a:pPr>
            <a:r>
              <a:rPr lang="en-US" sz="1150" b="1" dirty="0">
                <a:solidFill>
                  <a:srgbClr val="D9622B"/>
                </a:solidFill>
              </a:rPr>
              <a:t>Caveat: </a:t>
            </a:r>
            <a:pPr indent="0" marL="0">
              <a:buNone/>
            </a:pPr>
            <a:r>
              <a:rPr lang="en-US" sz="1150" dirty="0">
                <a:solidFill>
                  <a:schemeClr val="tx2"/>
                </a:solidFill>
              </a:rPr>
              <a:t>Codeforces figures use the authors' settings; tuned on the first 10%, TopCoder edges Elo-MMR(ρ), 78.62 vs 78.37.</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Conclusions and limitations</a:t>
            </a:r>
            <a:endParaRPr lang="en-US" sz="3000" dirty="0"/>
          </a:p>
        </p:txBody>
      </p:sp>
      <p:sp>
        <p:nvSpPr>
          <p:cNvPr id="3" name="Text 1"/>
          <p:cNvSpPr txBox="1"/>
          <p:nvPr/>
        </p:nvSpPr>
        <p:spPr>
          <a:xfrm>
            <a:off x="548640" y="1234440"/>
            <a:ext cx="3840480" cy="274320"/>
          </a:xfrm>
          <a:prstGeom prst="rect">
            <a:avLst/>
          </a:prstGeom>
          <a:noFill/>
          <a:ln/>
        </p:spPr>
        <p:txBody>
          <a:bodyPr wrap="square" lIns="0" tIns="0" rIns="0" bIns="0" rtlCol="0" anchor="t"/>
          <a:lstStyle/>
          <a:p>
            <a:pPr indent="0" marL="0">
              <a:buNone/>
            </a:pPr>
            <a:r>
              <a:rPr lang="en-US" sz="1200" b="1" spc="200" kern="0" dirty="0">
                <a:solidFill>
                  <a:srgbClr val="F0A07A"/>
                </a:solidFill>
              </a:rPr>
              <a:t>CONCLUSIONS</a:t>
            </a:r>
            <a:endParaRPr lang="en-US" sz="1200" dirty="0"/>
          </a:p>
        </p:txBody>
      </p:sp>
      <p:sp>
        <p:nvSpPr>
          <p:cNvPr id="4" name="Text 2"/>
          <p:cNvSpPr txBox="1"/>
          <p:nvPr/>
        </p:nvSpPr>
        <p:spPr>
          <a:xfrm>
            <a:off x="548640" y="1600200"/>
            <a:ext cx="3840480" cy="26517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E6EAF0"/>
                </a:solidFill>
              </a:rPr>
              <a:t>Elo-MMR's accuracy, synthetic results and speed reproduce once our setup matches the paper's</a:t>
            </a:r>
            <a:endParaRPr lang="en-US" sz="1300" dirty="0"/>
          </a:p>
          <a:p>
            <a:pPr marL="177800" indent="-177800">
              <a:spcAft>
                <a:spcPts val="800"/>
              </a:spcAft>
              <a:buSzPct val="100000"/>
              <a:buChar char="•"/>
            </a:pPr>
            <a:r>
              <a:rPr lang="en-US" sz="1300" dirty="0">
                <a:solidFill>
                  <a:srgbClr val="E6EAF0"/>
                </a:solidFill>
              </a:rPr>
              <a:t>Every first-pass gap had a testable cause: tuning split, participation rate, or how the baseline was coded</a:t>
            </a:r>
            <a:endParaRPr lang="en-US" sz="1300" dirty="0"/>
          </a:p>
          <a:p>
            <a:pPr marL="177800" indent="-177800">
              <a:spcAft>
                <a:spcPts val="800"/>
              </a:spcAft>
              <a:buSzPct val="100000"/>
              <a:buChar char="•"/>
            </a:pPr>
            <a:r>
              <a:rPr lang="en-US" sz="1300" dirty="0">
                <a:solidFill>
                  <a:srgbClr val="E6EAF0"/>
                </a:solidFill>
              </a:rPr>
              <a:t>On AtCoder, data the paper never saw, Elo-MMR beats every baseline and the platform's own ratings, all with 95% confidence</a:t>
            </a:r>
            <a:endParaRPr lang="en-US" sz="1300" dirty="0"/>
          </a:p>
          <a:p>
            <a:pPr marL="177800" indent="-177800">
              <a:spcAft>
                <a:spcPts val="800"/>
              </a:spcAft>
              <a:buSzPct val="100000"/>
              <a:buChar char="•"/>
            </a:pPr>
            <a:r>
              <a:rPr lang="en-US" sz="1300" dirty="0">
                <a:solidFill>
                  <a:srgbClr val="E6EAF0"/>
                </a:solidFill>
              </a:rPr>
              <a:t>Time-aware drift is a small, consistent, incentive-safe gain</a:t>
            </a:r>
            <a:endParaRPr lang="en-US" sz="1300" dirty="0"/>
          </a:p>
        </p:txBody>
      </p:sp>
      <p:sp>
        <p:nvSpPr>
          <p:cNvPr id="5" name="Text 3"/>
          <p:cNvSpPr txBox="1"/>
          <p:nvPr/>
        </p:nvSpPr>
        <p:spPr>
          <a:xfrm>
            <a:off x="4754880" y="1234440"/>
            <a:ext cx="3840480" cy="274320"/>
          </a:xfrm>
          <a:prstGeom prst="rect">
            <a:avLst/>
          </a:prstGeom>
          <a:noFill/>
          <a:ln/>
        </p:spPr>
        <p:txBody>
          <a:bodyPr wrap="square" lIns="0" tIns="0" rIns="0" bIns="0" rtlCol="0" anchor="t"/>
          <a:lstStyle/>
          <a:p>
            <a:pPr indent="0" marL="0">
              <a:buNone/>
            </a:pPr>
            <a:r>
              <a:rPr lang="en-US" sz="1200" b="1" spc="200" kern="0" dirty="0">
                <a:solidFill>
                  <a:srgbClr val="F0A07A"/>
                </a:solidFill>
              </a:rPr>
              <a:t>LIMITATIONS</a:t>
            </a:r>
            <a:endParaRPr lang="en-US" sz="1200" dirty="0"/>
          </a:p>
        </p:txBody>
      </p:sp>
      <p:sp>
        <p:nvSpPr>
          <p:cNvPr id="6" name="Text 4"/>
          <p:cNvSpPr txBox="1"/>
          <p:nvPr/>
        </p:nvSpPr>
        <p:spPr>
          <a:xfrm>
            <a:off x="4754880" y="1600200"/>
            <a:ext cx="3840480" cy="26517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E6EAF0"/>
                </a:solidFill>
              </a:rPr>
              <a:t>Sensitive to tuning: with the paper's 10% split, TopCoder beats tuned Elo-MMR(ρ) on Codeforces</a:t>
            </a:r>
            <a:endParaRPr lang="en-US" sz="1300" dirty="0"/>
          </a:p>
          <a:p>
            <a:pPr marL="177800" indent="-177800">
              <a:spcAft>
                <a:spcPts val="800"/>
              </a:spcAft>
              <a:buSzPct val="100000"/>
              <a:buChar char="•"/>
            </a:pPr>
            <a:r>
              <a:rPr lang="en-US" sz="1300" dirty="0">
                <a:solidFill>
                  <a:srgbClr val="E6EAF0"/>
                </a:solidFill>
              </a:rPr>
              <a:t>Our gains are modest (+0.02 to +0.10 points); adaptive round weighting did not help</a:t>
            </a:r>
            <a:endParaRPr lang="en-US" sz="1300" dirty="0"/>
          </a:p>
          <a:p>
            <a:pPr marL="177800" indent="-177800">
              <a:spcAft>
                <a:spcPts val="800"/>
              </a:spcAft>
              <a:buSzPct val="100000"/>
              <a:buChar char="•"/>
            </a:pPr>
            <a:r>
              <a:rPr lang="en-US" sz="1300" dirty="0">
                <a:solidFill>
                  <a:srgbClr val="E6EAF0"/>
                </a:solidFill>
              </a:rPr>
              <a:t>Nearest-500 subsampling breaks exact monotonicity (up to 0.3 points in our test)</a:t>
            </a:r>
            <a:endParaRPr lang="en-US" sz="1300" dirty="0"/>
          </a:p>
          <a:p>
            <a:pPr marL="177800" indent="-177800">
              <a:spcAft>
                <a:spcPts val="800"/>
              </a:spcAft>
              <a:buSzPct val="100000"/>
              <a:buChar char="•"/>
            </a:pPr>
            <a:r>
              <a:rPr lang="en-US" sz="1300" dirty="0">
                <a:solidFill>
                  <a:srgbClr val="E6EAF0"/>
                </a:solidFill>
              </a:rPr>
              <a:t>No TopCoder, Reddit or TrueSkill comparison: that data was never published</a:t>
            </a:r>
            <a:endParaRPr lang="en-US" sz="1300" dirty="0"/>
          </a:p>
          <a:p>
            <a:pPr marL="177800" indent="-177800">
              <a:spcAft>
                <a:spcPts val="800"/>
              </a:spcAft>
              <a:buSzPct val="100000"/>
              <a:buChar char="•"/>
            </a:pPr>
            <a:r>
              <a:rPr lang="en-US" sz="1300" dirty="0">
                <a:solidFill>
                  <a:srgbClr val="E6EAF0"/>
                </a:solidFill>
              </a:rPr>
              <a:t>Metrics only score ordering; whether σ is calibrated is untested</a:t>
            </a:r>
            <a:endParaRPr lang="en-US" sz="1300" dirty="0"/>
          </a:p>
        </p:txBody>
      </p:sp>
      <p:sp>
        <p:nvSpPr>
          <p:cNvPr id="7" name="Text 5"/>
          <p:cNvSpPr txBox="1"/>
          <p:nvPr/>
        </p:nvSpPr>
        <p:spPr>
          <a:xfrm>
            <a:off x="548640" y="4434840"/>
            <a:ext cx="8046720" cy="320040"/>
          </a:xfrm>
          <a:prstGeom prst="rect">
            <a:avLst/>
          </a:prstGeom>
          <a:noFill/>
          <a:ln/>
        </p:spPr>
        <p:txBody>
          <a:bodyPr wrap="square" lIns="0" tIns="0" rIns="0" bIns="0" rtlCol="0" anchor="t"/>
          <a:lstStyle/>
          <a:p>
            <a:pPr indent="0" marL="0">
              <a:buNone/>
            </a:pPr>
            <a:r>
              <a:rPr lang="en-US" sz="1400" b="1" dirty="0">
                <a:solidFill>
                  <a:srgbClr val="FFFFFF"/>
                </a:solidFill>
              </a:rPr>
              <a:t>Next: code demo  ·  Q&amp;A</a:t>
            </a:r>
            <a:endParaRPr lang="en-US" sz="1400" dirty="0"/>
          </a:p>
        </p:txBody>
      </p:sp>
      <p:sp>
        <p:nvSpPr>
          <p:cNvPr id="9" name="Text 0"/>
          <p:cNvSpPr/>
          <p:nvPr>
            <p:ph idx="100" type="title" hasCustomPrompt="1"/>
          </p:nvPr>
        </p:nvSpPr>
        <p:spPr>
          <a:xfrm>
            <a:off x="548640" y="1097280"/>
            <a:ext cx="8046720" cy="1600200"/>
          </a:xfrm>
          <a:prstGeom prst="rect">
            <a:avLst/>
          </a:prstGeom>
          <a:noFill/>
          <a:ln/>
        </p:spPr>
        <p:txBody>
          <a:bodyPr wrap="square" rtlCol="0" anchor="b"/>
          <a:lstStyle/>
          <a:p>
            <a:pPr algn="l" indent="0" marL="0">
              <a:buNone/>
            </a:pPr>
            <a:endParaRPr lang="en-US" sz="3200" dirty="0"/>
          </a:p>
        </p:txBody>
      </p:sp>
      <p:sp>
        <p:nvSpPr>
          <p:cNvPr id="10" name="Text 0"/>
          <p:cNvSpPr/>
          <p:nvPr>
            <p:ph idx="101" type="body" hasCustomPrompt="1"/>
          </p:nvPr>
        </p:nvSpPr>
        <p:spPr>
          <a:xfrm>
            <a:off x="548640" y="2834640"/>
            <a:ext cx="8046720" cy="1097280"/>
          </a:xfrm>
          <a:prstGeom prst="rect">
            <a:avLst/>
          </a:prstGeom>
          <a:noFill/>
          <a:ln/>
        </p:spPr>
        <p:txBody>
          <a:bodyPr wrap="square"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Elo-MMR">
  <a:themeElements>
    <a:clrScheme name="Elo-MMR">
      <a:dk1>
        <a:srgbClr val="13213A"/>
      </a:dk1>
      <a:lt1>
        <a:srgbClr val="FFFFFF"/>
      </a:lt1>
      <a:dk2>
        <a:srgbClr val="4A5568"/>
      </a:dk2>
      <a:lt2>
        <a:srgbClr val="F1F3F6"/>
      </a:lt2>
      <a:accent1>
        <a:srgbClr val="13213A"/>
      </a:accent1>
      <a:accent2>
        <a:srgbClr val="D9622B"/>
      </a:accent2>
      <a:accent3>
        <a:srgbClr val="147A55"/>
      </a:accent3>
      <a:accent4>
        <a:srgbClr val="9AA5B1"/>
      </a:accent4>
      <a:accent5>
        <a:srgbClr val="7FB0EC"/>
      </a:accent5>
      <a:accent6>
        <a:srgbClr val="DFF3EA"/>
      </a:accent6>
      <a:hlink>
        <a:srgbClr val="1C5FB8"/>
      </a:hlink>
      <a:folHlink>
        <a:srgbClr val="6B4FA0"/>
      </a:folHlink>
    </a:clrScheme>
    <a:fontScheme name="Elo-MM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Elo-MMR: replication and extension</dc:title>
  <dc:subject>PptxGenJS Presentation</dc:subject>
  <dc:creator>PptxGenJS</dc:creator>
  <cp:lastModifiedBy>PptxGenJS</cp:lastModifiedBy>
  <cp:revision>1</cp:revision>
  <dcterms:created xsi:type="dcterms:W3CDTF">2026-10-28T17:23:03Z</dcterms:created>
  <dcterms:modified xsi:type="dcterms:W3CDTF">2026-10-28T17:23:03Z</dcterms:modified>
</cp:coreProperties>
</file>